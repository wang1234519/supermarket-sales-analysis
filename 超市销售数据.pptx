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7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8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257" r:id="rId3"/>
    <p:sldId id="258" r:id="rId4"/>
    <p:sldId id="259" r:id="rId5"/>
    <p:sldId id="261" r:id="rId6"/>
    <p:sldId id="262" r:id="rId7"/>
    <p:sldId id="303" r:id="rId8"/>
    <p:sldId id="304" r:id="rId9"/>
    <p:sldId id="305" r:id="rId10"/>
    <p:sldId id="482" r:id="rId11"/>
    <p:sldId id="290" r:id="rId12"/>
    <p:sldId id="291" r:id="rId13"/>
    <p:sldId id="293" r:id="rId14"/>
    <p:sldId id="294" r:id="rId15"/>
    <p:sldId id="295" r:id="rId16"/>
    <p:sldId id="297" r:id="rId17"/>
    <p:sldId id="298" r:id="rId18"/>
    <p:sldId id="299" r:id="rId19"/>
    <p:sldId id="300" r:id="rId20"/>
    <p:sldId id="301" r:id="rId21"/>
    <p:sldId id="302" r:id="rId22"/>
    <p:sldId id="296" r:id="rId23"/>
    <p:sldId id="306" r:id="rId24"/>
    <p:sldId id="479" r:id="rId25"/>
    <p:sldId id="480" r:id="rId26"/>
    <p:sldId id="481" r:id="rId27"/>
    <p:sldId id="265" r:id="rId28"/>
    <p:sldId id="309" r:id="rId29"/>
    <p:sldId id="439" r:id="rId30"/>
    <p:sldId id="438" r:id="rId31"/>
    <p:sldId id="371" r:id="rId32"/>
    <p:sldId id="372" r:id="rId33"/>
    <p:sldId id="382" r:id="rId34"/>
    <p:sldId id="443" r:id="rId35"/>
    <p:sldId id="483" r:id="rId36"/>
    <p:sldId id="424" r:id="rId37"/>
    <p:sldId id="417" r:id="rId38"/>
    <p:sldId id="418" r:id="rId39"/>
    <p:sldId id="419" r:id="rId40"/>
    <p:sldId id="420" r:id="rId41"/>
    <p:sldId id="421" r:id="rId42"/>
    <p:sldId id="422" r:id="rId43"/>
    <p:sldId id="423" r:id="rId44"/>
    <p:sldId id="272" r:id="rId45"/>
    <p:sldId id="276" r:id="rId46"/>
  </p:sldIdLst>
  <p:sldSz cx="12192000" cy="6858000"/>
  <p:notesSz cx="6858000" cy="12192000"/>
  <p:embeddedFontLst>
    <p:embeddedFont>
      <p:font typeface="MiSans" pitchFamily="50" charset="-122"/>
      <p:regular r:id="rId49"/>
    </p:embeddedFont>
  </p:embeddedFontLst>
  <p:custDataLst>
    <p:tags r:id="rId50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3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0B044-2415-8E66-1699-3AD276BB8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98886-C7C6-BB22-1339-BDC23C085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EFB5A-081F-DE78-FDE7-878B6C637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41DEA-6F7A-852B-B375-DB4A3CDF26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81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02147-EEDA-1DFE-627B-BE2D1C6D5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43A02-84D1-BC82-5418-32EBD2D1C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18FD2-C675-479E-8F78-41ACA8344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C1A4B-65F9-4F64-8E06-26062C5CEF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75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4.xml"/><Relationship Id="rId7" Type="http://schemas.openxmlformats.org/officeDocument/2006/relationships/image" Target="../media/image1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tags" Target="../tags/tag31.xml"/><Relationship Id="rId3" Type="http://schemas.openxmlformats.org/officeDocument/2006/relationships/tags" Target="../tags/tag8.xml"/><Relationship Id="rId21" Type="http://schemas.openxmlformats.org/officeDocument/2006/relationships/tags" Target="../tags/tag26.xml"/><Relationship Id="rId34" Type="http://schemas.openxmlformats.org/officeDocument/2006/relationships/image" Target="../media/image4.png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notesSlide" Target="../notesSlides/notesSlide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0" Type="http://schemas.openxmlformats.org/officeDocument/2006/relationships/tags" Target="../tags/tag25.xml"/><Relationship Id="rId29" Type="http://schemas.openxmlformats.org/officeDocument/2006/relationships/tags" Target="../tags/tag34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slideLayout" Target="../slideLayouts/slideLayout1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tags" Target="../tags/tag33.xml"/><Relationship Id="rId36" Type="http://schemas.openxmlformats.org/officeDocument/2006/relationships/image" Target="../media/image6.png"/><Relationship Id="rId10" Type="http://schemas.openxmlformats.org/officeDocument/2006/relationships/tags" Target="../tags/tag15.xml"/><Relationship Id="rId19" Type="http://schemas.openxmlformats.org/officeDocument/2006/relationships/tags" Target="../tags/tag24.xml"/><Relationship Id="rId31" Type="http://schemas.openxmlformats.org/officeDocument/2006/relationships/tags" Target="../tags/tag36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tags" Target="../tags/tag35.xml"/><Relationship Id="rId35" Type="http://schemas.openxmlformats.org/officeDocument/2006/relationships/image" Target="../media/image5.png"/><Relationship Id="rId8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2.jpe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Relationship Id="rId6" Type="http://schemas.openxmlformats.org/officeDocument/2006/relationships/image" Target="../media/image36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0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51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8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35641" y="2478945"/>
            <a:ext cx="7735348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6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超市销售数据分析</a:t>
            </a:r>
          </a:p>
        </p:txBody>
      </p:sp>
      <p:sp>
        <p:nvSpPr>
          <p:cNvPr id="4" name="Shape 1"/>
          <p:cNvSpPr/>
          <p:nvPr>
            <p:custDataLst>
              <p:tags r:id="rId1"/>
            </p:custDataLst>
          </p:nvPr>
        </p:nvSpPr>
        <p:spPr>
          <a:xfrm>
            <a:off x="3154998" y="4290164"/>
            <a:ext cx="2646997" cy="891436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490595" y="4424045"/>
            <a:ext cx="231140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3257073" y="4306117"/>
            <a:ext cx="244284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 err="1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王瑞祥，冀海梁，孟耀琛，郭晋阳</a:t>
            </a:r>
          </a:p>
        </p:txBody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6203314" y="4290164"/>
            <a:ext cx="2453005" cy="891436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8" name="Text 5"/>
          <p:cNvSpPr/>
          <p:nvPr/>
        </p:nvSpPr>
        <p:spPr>
          <a:xfrm>
            <a:off x="6146165" y="4424045"/>
            <a:ext cx="231140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6286183" y="4545693"/>
            <a:ext cx="238569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时间:2026.9.23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93745" y="472817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11" name="Text 8"/>
          <p:cNvSpPr/>
          <p:nvPr/>
        </p:nvSpPr>
        <p:spPr>
          <a:xfrm>
            <a:off x="893745" y="472817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230150" y="156968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13" name="Text 10"/>
          <p:cNvSpPr/>
          <p:nvPr/>
        </p:nvSpPr>
        <p:spPr>
          <a:xfrm>
            <a:off x="10230150" y="156968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6835" y="4125595"/>
            <a:ext cx="6468110" cy="29845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9">
            <a:alphaModFix amt="25000"/>
          </a:blip>
          <a:srcRect t="22162"/>
          <a:stretch>
            <a:fillRect/>
          </a:stretch>
        </p:blipFill>
        <p:spPr>
          <a:xfrm>
            <a:off x="777875" y="2787650"/>
            <a:ext cx="2311400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pg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315325" y="995045"/>
            <a:ext cx="3658870" cy="365887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5400000" flipV="1">
            <a:off x="6951345" y="1617345"/>
            <a:ext cx="6858635" cy="36233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10260" y="704850"/>
            <a:ext cx="2698115" cy="11080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1"/>
          <p:cNvSpPr/>
          <p:nvPr/>
        </p:nvSpPr>
        <p:spPr>
          <a:xfrm>
            <a:off x="810260" y="704850"/>
            <a:ext cx="2698115" cy="1108075"/>
          </a:xfrm>
          <a:prstGeom prst="rect">
            <a:avLst/>
          </a:prstGeom>
          <a:noFill/>
        </p:spPr>
        <p:txBody>
          <a:bodyPr wrap="square" lIns="46863" tIns="90043" rIns="90043" bIns="46863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848610" y="1078865"/>
            <a:ext cx="2884805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>
                    <a:alpha val="54902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7163100" y="70481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38" name="Text 34"/>
          <p:cNvSpPr/>
          <p:nvPr/>
        </p:nvSpPr>
        <p:spPr>
          <a:xfrm>
            <a:off x="7163100" y="70481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9965355" y="5226649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CFCFF"/>
          </a:solidFill>
        </p:spPr>
      </p:sp>
      <p:sp>
        <p:nvSpPr>
          <p:cNvPr id="40" name="Text 36"/>
          <p:cNvSpPr/>
          <p:nvPr/>
        </p:nvSpPr>
        <p:spPr>
          <a:xfrm>
            <a:off x="9965355" y="5226649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1" name="Image 2" descr="https://kimi-img.moonshot.cn/pub/slides/slides_tmpl/image/25-09-08-12:55:42-d2v63jlnfo2stf9dk4sg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418195" y="1015365"/>
            <a:ext cx="3432175" cy="3572510"/>
          </a:xfrm>
          <a:prstGeom prst="rect">
            <a:avLst/>
          </a:prstGeom>
        </p:spPr>
      </p:pic>
      <p:grpSp>
        <p:nvGrpSpPr>
          <p:cNvPr id="54" name="组合 53"/>
          <p:cNvGrpSpPr/>
          <p:nvPr>
            <p:custDataLst>
              <p:tags r:id="rId1"/>
            </p:custDataLst>
          </p:nvPr>
        </p:nvGrpSpPr>
        <p:grpSpPr>
          <a:xfrm>
            <a:off x="848920" y="1675130"/>
            <a:ext cx="6325945" cy="4935220"/>
            <a:chOff x="1337" y="2638"/>
            <a:chExt cx="9962" cy="7772"/>
          </a:xfrm>
        </p:grpSpPr>
        <p:grpSp>
          <p:nvGrpSpPr>
            <p:cNvPr id="42" name="组合 41"/>
            <p:cNvGrpSpPr/>
            <p:nvPr>
              <p:custDataLst>
                <p:tags r:id="rId2"/>
              </p:custDataLst>
            </p:nvPr>
          </p:nvGrpSpPr>
          <p:grpSpPr>
            <a:xfrm>
              <a:off x="1410" y="2638"/>
              <a:ext cx="9870" cy="1040"/>
              <a:chOff x="1539" y="3237"/>
              <a:chExt cx="9870" cy="1040"/>
            </a:xfrm>
          </p:grpSpPr>
          <p:sp>
            <p:nvSpPr>
              <p:cNvPr id="11" name="Shape 7"/>
              <p:cNvSpPr/>
              <p:nvPr>
                <p:custDataLst>
                  <p:tags r:id="rId28"/>
                </p:custDataLst>
              </p:nvPr>
            </p:nvSpPr>
            <p:spPr>
              <a:xfrm>
                <a:off x="2807" y="3237"/>
                <a:ext cx="8602" cy="1040"/>
              </a:xfrm>
              <a:prstGeom prst="roundRect">
                <a:avLst/>
              </a:prstGeom>
              <a:solidFill>
                <a:srgbClr val="000000">
                  <a:alpha val="0"/>
                </a:srgbClr>
              </a:solidFill>
              <a:ln w="19050">
                <a:solidFill>
                  <a:srgbClr val="015DBB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Text 3"/>
              <p:cNvSpPr/>
              <p:nvPr>
                <p:custDataLst>
                  <p:tags r:id="rId29"/>
                </p:custDataLst>
              </p:nvPr>
            </p:nvSpPr>
            <p:spPr>
              <a:xfrm>
                <a:off x="2954" y="3480"/>
                <a:ext cx="8166" cy="58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项目</a:t>
                </a:r>
                <a:r>
                  <a:rPr lang="en-US" sz="2400" b="1" dirty="0">
                    <a:solidFill>
                      <a:srgbClr val="00000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介绍</a:t>
                </a:r>
                <a:endParaRPr lang="zh-CN" altLang="en-US" sz="1600" dirty="0"/>
              </a:p>
            </p:txBody>
          </p:sp>
          <p:sp>
            <p:nvSpPr>
              <p:cNvPr id="8" name="Shape 4"/>
              <p:cNvSpPr/>
              <p:nvPr>
                <p:custDataLst>
                  <p:tags r:id="rId30"/>
                </p:custDataLst>
              </p:nvPr>
            </p:nvSpPr>
            <p:spPr>
              <a:xfrm>
                <a:off x="1539" y="3237"/>
                <a:ext cx="1090" cy="1040"/>
              </a:xfrm>
              <a:prstGeom prst="roundRect">
                <a:avLst/>
              </a:prstGeom>
              <a:solidFill>
                <a:srgbClr val="015DBB"/>
              </a:solidFill>
            </p:spPr>
          </p:sp>
          <p:sp>
            <p:nvSpPr>
              <p:cNvPr id="9" name="Text 5"/>
              <p:cNvSpPr/>
              <p:nvPr/>
            </p:nvSpPr>
            <p:spPr>
              <a:xfrm>
                <a:off x="1539" y="3237"/>
                <a:ext cx="1090" cy="1040"/>
              </a:xfrm>
              <a:prstGeom prst="rect">
                <a:avLst/>
              </a:prstGeom>
              <a:noFill/>
            </p:spPr>
            <p:txBody>
              <a:bodyPr wrap="square" lIns="45720" tIns="91440" rIns="91440" bIns="45720" rtlCol="0" anchor="ctr"/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sz="1600" dirty="0"/>
              </a:p>
            </p:txBody>
          </p:sp>
          <p:sp>
            <p:nvSpPr>
              <p:cNvPr id="10" name="Text 6"/>
              <p:cNvSpPr/>
              <p:nvPr>
                <p:custDataLst>
                  <p:tags r:id="rId31"/>
                </p:custDataLst>
              </p:nvPr>
            </p:nvSpPr>
            <p:spPr>
              <a:xfrm>
                <a:off x="1556" y="3373"/>
                <a:ext cx="1033" cy="6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01</a:t>
                </a:r>
                <a:endParaRPr lang="en-US" sz="1600" dirty="0"/>
              </a:p>
            </p:txBody>
          </p:sp>
          <p:sp>
            <p:nvSpPr>
              <p:cNvPr id="12" name="Text 8"/>
              <p:cNvSpPr/>
              <p:nvPr/>
            </p:nvSpPr>
            <p:spPr>
              <a:xfrm>
                <a:off x="2807" y="3237"/>
                <a:ext cx="8602" cy="1040"/>
              </a:xfrm>
              <a:prstGeom prst="rect">
                <a:avLst/>
              </a:prstGeom>
              <a:noFill/>
            </p:spPr>
            <p:txBody>
              <a:bodyPr wrap="square" lIns="45720" tIns="91440" rIns="91440" bIns="45720" rtlCol="0" anchor="ctr"/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sz="1600" dirty="0"/>
              </a:p>
            </p:txBody>
          </p:sp>
        </p:grpSp>
        <p:grpSp>
          <p:nvGrpSpPr>
            <p:cNvPr id="43" name="组合 42"/>
            <p:cNvGrpSpPr/>
            <p:nvPr>
              <p:custDataLst>
                <p:tags r:id="rId3"/>
              </p:custDataLst>
            </p:nvPr>
          </p:nvGrpSpPr>
          <p:grpSpPr>
            <a:xfrm>
              <a:off x="1410" y="4020"/>
              <a:ext cx="9870" cy="1040"/>
              <a:chOff x="1539" y="4603"/>
              <a:chExt cx="9870" cy="1040"/>
            </a:xfrm>
          </p:grpSpPr>
          <p:sp>
            <p:nvSpPr>
              <p:cNvPr id="18" name="Text 14"/>
              <p:cNvSpPr/>
              <p:nvPr/>
            </p:nvSpPr>
            <p:spPr>
              <a:xfrm>
                <a:off x="2807" y="4603"/>
                <a:ext cx="8602" cy="1040"/>
              </a:xfrm>
              <a:prstGeom prst="rect">
                <a:avLst/>
              </a:prstGeom>
              <a:noFill/>
            </p:spPr>
            <p:txBody>
              <a:bodyPr wrap="square" lIns="45720" tIns="91440" rIns="91440" bIns="45720" rtlCol="0" anchor="ctr"/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sz="1600" dirty="0"/>
              </a:p>
            </p:txBody>
          </p:sp>
          <p:sp>
            <p:nvSpPr>
              <p:cNvPr id="17" name="Shape 13"/>
              <p:cNvSpPr/>
              <p:nvPr>
                <p:custDataLst>
                  <p:tags r:id="rId24"/>
                </p:custDataLst>
              </p:nvPr>
            </p:nvSpPr>
            <p:spPr>
              <a:xfrm>
                <a:off x="2807" y="4603"/>
                <a:ext cx="8602" cy="1040"/>
              </a:xfrm>
              <a:prstGeom prst="roundRect">
                <a:avLst/>
              </a:prstGeom>
              <a:solidFill>
                <a:srgbClr val="000000">
                  <a:alpha val="0"/>
                </a:srgbClr>
              </a:solidFill>
              <a:ln w="19050">
                <a:solidFill>
                  <a:srgbClr val="015DBB"/>
                </a:solidFill>
                <a:prstDash val="solid"/>
              </a:ln>
            </p:spPr>
          </p:sp>
          <p:sp>
            <p:nvSpPr>
              <p:cNvPr id="13" name="Text 9"/>
              <p:cNvSpPr/>
              <p:nvPr>
                <p:custDataLst>
                  <p:tags r:id="rId25"/>
                </p:custDataLst>
              </p:nvPr>
            </p:nvSpPr>
            <p:spPr>
              <a:xfrm>
                <a:off x="2954" y="4846"/>
                <a:ext cx="8165" cy="58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algn="l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  <a:sym typeface="+mn-ea"/>
                  </a:rPr>
                  <a:t>数据采集与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  <a:sym typeface="+mn-ea"/>
                  </a:rPr>
                  <a:t>HDFS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  <a:sym typeface="+mn-ea"/>
                  </a:rPr>
                  <a:t>存储</a:t>
                </a:r>
                <a:endParaRPr lang="zh-CN" altLang="en-US" sz="2400" b="1" dirty="0">
                  <a:solidFill>
                    <a:srgbClr val="00000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endParaRPr>
              </a:p>
            </p:txBody>
          </p:sp>
          <p:sp>
            <p:nvSpPr>
              <p:cNvPr id="14" name="Shape 10"/>
              <p:cNvSpPr/>
              <p:nvPr>
                <p:custDataLst>
                  <p:tags r:id="rId26"/>
                </p:custDataLst>
              </p:nvPr>
            </p:nvSpPr>
            <p:spPr>
              <a:xfrm>
                <a:off x="1539" y="4603"/>
                <a:ext cx="1090" cy="1040"/>
              </a:xfrm>
              <a:prstGeom prst="roundRect">
                <a:avLst/>
              </a:prstGeom>
              <a:solidFill>
                <a:srgbClr val="015DBB"/>
              </a:solidFill>
            </p:spPr>
          </p:sp>
          <p:sp>
            <p:nvSpPr>
              <p:cNvPr id="15" name="Text 11"/>
              <p:cNvSpPr/>
              <p:nvPr/>
            </p:nvSpPr>
            <p:spPr>
              <a:xfrm>
                <a:off x="1539" y="4603"/>
                <a:ext cx="1090" cy="1040"/>
              </a:xfrm>
              <a:prstGeom prst="rect">
                <a:avLst/>
              </a:prstGeom>
              <a:noFill/>
            </p:spPr>
            <p:txBody>
              <a:bodyPr wrap="square" lIns="45720" tIns="91440" rIns="91440" bIns="45720" rtlCol="0" anchor="ctr"/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sz="1600" dirty="0"/>
              </a:p>
            </p:txBody>
          </p:sp>
          <p:sp>
            <p:nvSpPr>
              <p:cNvPr id="16" name="Text 12"/>
              <p:cNvSpPr/>
              <p:nvPr>
                <p:custDataLst>
                  <p:tags r:id="rId27"/>
                </p:custDataLst>
              </p:nvPr>
            </p:nvSpPr>
            <p:spPr>
              <a:xfrm>
                <a:off x="1556" y="4739"/>
                <a:ext cx="1033" cy="6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02</a:t>
                </a:r>
                <a:endParaRPr lang="en-US" sz="1600" dirty="0"/>
              </a:p>
            </p:txBody>
          </p:sp>
        </p:grpSp>
        <p:grpSp>
          <p:nvGrpSpPr>
            <p:cNvPr id="44" name="组合 43"/>
            <p:cNvGrpSpPr/>
            <p:nvPr>
              <p:custDataLst>
                <p:tags r:id="rId4"/>
              </p:custDataLst>
            </p:nvPr>
          </p:nvGrpSpPr>
          <p:grpSpPr>
            <a:xfrm>
              <a:off x="1429" y="5346"/>
              <a:ext cx="9870" cy="1040"/>
              <a:chOff x="1539" y="5969"/>
              <a:chExt cx="9870" cy="1040"/>
            </a:xfrm>
          </p:grpSpPr>
          <p:sp>
            <p:nvSpPr>
              <p:cNvPr id="23" name="Shape 19"/>
              <p:cNvSpPr/>
              <p:nvPr>
                <p:custDataLst>
                  <p:tags r:id="rId20"/>
                </p:custDataLst>
              </p:nvPr>
            </p:nvSpPr>
            <p:spPr>
              <a:xfrm>
                <a:off x="2807" y="5969"/>
                <a:ext cx="8602" cy="1040"/>
              </a:xfrm>
              <a:prstGeom prst="roundRect">
                <a:avLst/>
              </a:prstGeom>
              <a:solidFill>
                <a:srgbClr val="000000">
                  <a:alpha val="0"/>
                </a:srgbClr>
              </a:solidFill>
              <a:ln w="19050">
                <a:solidFill>
                  <a:srgbClr val="015DBB"/>
                </a:solidFill>
                <a:prstDash val="solid"/>
              </a:ln>
            </p:spPr>
          </p:sp>
          <p:sp>
            <p:nvSpPr>
              <p:cNvPr id="24" name="Text 20"/>
              <p:cNvSpPr/>
              <p:nvPr/>
            </p:nvSpPr>
            <p:spPr>
              <a:xfrm>
                <a:off x="2807" y="5969"/>
                <a:ext cx="8602" cy="1040"/>
              </a:xfrm>
              <a:prstGeom prst="rect">
                <a:avLst/>
              </a:prstGeom>
              <a:noFill/>
            </p:spPr>
            <p:txBody>
              <a:bodyPr wrap="square" lIns="45720" tIns="91440" rIns="91440" bIns="45720" rtlCol="0" anchor="ctr"/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sz="1600" dirty="0"/>
              </a:p>
            </p:txBody>
          </p:sp>
          <p:sp>
            <p:nvSpPr>
              <p:cNvPr id="19" name="Text 15"/>
              <p:cNvSpPr/>
              <p:nvPr>
                <p:custDataLst>
                  <p:tags r:id="rId21"/>
                </p:custDataLst>
              </p:nvPr>
            </p:nvSpPr>
            <p:spPr>
              <a:xfrm>
                <a:off x="2954" y="6201"/>
                <a:ext cx="8165" cy="58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  <a:sym typeface="+mn-ea"/>
                  </a:rPr>
                  <a:t>数据表的设计</a:t>
                </a:r>
                <a:endParaRPr lang="zh-CN" altLang="en-US" sz="2400" b="1" dirty="0">
                  <a:solidFill>
                    <a:srgbClr val="000000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endParaRPr>
              </a:p>
            </p:txBody>
          </p:sp>
          <p:sp>
            <p:nvSpPr>
              <p:cNvPr id="20" name="Shape 16"/>
              <p:cNvSpPr/>
              <p:nvPr>
                <p:custDataLst>
                  <p:tags r:id="rId22"/>
                </p:custDataLst>
              </p:nvPr>
            </p:nvSpPr>
            <p:spPr>
              <a:xfrm>
                <a:off x="1539" y="5969"/>
                <a:ext cx="1090" cy="1040"/>
              </a:xfrm>
              <a:prstGeom prst="roundRect">
                <a:avLst/>
              </a:prstGeom>
              <a:solidFill>
                <a:srgbClr val="015DBB"/>
              </a:solidFill>
            </p:spPr>
          </p:sp>
          <p:sp>
            <p:nvSpPr>
              <p:cNvPr id="21" name="Text 17"/>
              <p:cNvSpPr/>
              <p:nvPr/>
            </p:nvSpPr>
            <p:spPr>
              <a:xfrm>
                <a:off x="1539" y="5969"/>
                <a:ext cx="1090" cy="1040"/>
              </a:xfrm>
              <a:prstGeom prst="rect">
                <a:avLst/>
              </a:prstGeom>
              <a:noFill/>
            </p:spPr>
            <p:txBody>
              <a:bodyPr wrap="square" lIns="45720" tIns="91440" rIns="91440" bIns="45720" rtlCol="0" anchor="ctr"/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sz="1600" dirty="0"/>
              </a:p>
            </p:txBody>
          </p:sp>
          <p:sp>
            <p:nvSpPr>
              <p:cNvPr id="22" name="Text 18"/>
              <p:cNvSpPr/>
              <p:nvPr>
                <p:custDataLst>
                  <p:tags r:id="rId23"/>
                </p:custDataLst>
              </p:nvPr>
            </p:nvSpPr>
            <p:spPr>
              <a:xfrm>
                <a:off x="1556" y="6105"/>
                <a:ext cx="1033" cy="6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03</a:t>
                </a:r>
                <a:endParaRPr lang="en-US" sz="1600" dirty="0"/>
              </a:p>
            </p:txBody>
          </p:sp>
        </p:grpSp>
        <p:grpSp>
          <p:nvGrpSpPr>
            <p:cNvPr id="45" name="组合 44"/>
            <p:cNvGrpSpPr/>
            <p:nvPr>
              <p:custDataLst>
                <p:tags r:id="rId5"/>
              </p:custDataLst>
            </p:nvPr>
          </p:nvGrpSpPr>
          <p:grpSpPr>
            <a:xfrm>
              <a:off x="1337" y="6620"/>
              <a:ext cx="9962" cy="1043"/>
              <a:chOff x="1447" y="7335"/>
              <a:chExt cx="9962" cy="1043"/>
            </a:xfrm>
          </p:grpSpPr>
          <p:sp>
            <p:nvSpPr>
              <p:cNvPr id="29" name="Shape 25"/>
              <p:cNvSpPr/>
              <p:nvPr>
                <p:custDataLst>
                  <p:tags r:id="rId16"/>
                </p:custDataLst>
              </p:nvPr>
            </p:nvSpPr>
            <p:spPr>
              <a:xfrm>
                <a:off x="2788" y="7338"/>
                <a:ext cx="8602" cy="1040"/>
              </a:xfrm>
              <a:prstGeom prst="roundRect">
                <a:avLst/>
              </a:prstGeom>
              <a:solidFill>
                <a:srgbClr val="000000">
                  <a:alpha val="0"/>
                </a:srgbClr>
              </a:solidFill>
              <a:ln w="19050">
                <a:solidFill>
                  <a:srgbClr val="015DBB"/>
                </a:solidFill>
                <a:prstDash val="solid"/>
              </a:ln>
            </p:spPr>
          </p:sp>
          <p:sp>
            <p:nvSpPr>
              <p:cNvPr id="25" name="Text 21"/>
              <p:cNvSpPr/>
              <p:nvPr>
                <p:custDataLst>
                  <p:tags r:id="rId17"/>
                </p:custDataLst>
              </p:nvPr>
            </p:nvSpPr>
            <p:spPr>
              <a:xfrm>
                <a:off x="2954" y="7567"/>
                <a:ext cx="8165" cy="58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后端架构展示</a:t>
                </a:r>
              </a:p>
            </p:txBody>
          </p:sp>
          <p:sp>
            <p:nvSpPr>
              <p:cNvPr id="26" name="Shape 22"/>
              <p:cNvSpPr/>
              <p:nvPr>
                <p:custDataLst>
                  <p:tags r:id="rId18"/>
                </p:custDataLst>
              </p:nvPr>
            </p:nvSpPr>
            <p:spPr>
              <a:xfrm>
                <a:off x="1539" y="7335"/>
                <a:ext cx="1090" cy="1040"/>
              </a:xfrm>
              <a:prstGeom prst="roundRect">
                <a:avLst/>
              </a:prstGeom>
              <a:solidFill>
                <a:srgbClr val="015DBB"/>
              </a:solidFill>
            </p:spPr>
          </p:sp>
          <p:sp>
            <p:nvSpPr>
              <p:cNvPr id="27" name="Text 23"/>
              <p:cNvSpPr/>
              <p:nvPr/>
            </p:nvSpPr>
            <p:spPr>
              <a:xfrm>
                <a:off x="1539" y="7335"/>
                <a:ext cx="1090" cy="1040"/>
              </a:xfrm>
              <a:prstGeom prst="rect">
                <a:avLst/>
              </a:prstGeom>
              <a:noFill/>
            </p:spPr>
            <p:txBody>
              <a:bodyPr wrap="square" lIns="45720" tIns="91440" rIns="91440" bIns="45720" rtlCol="0" anchor="ctr"/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sz="1600" dirty="0"/>
              </a:p>
            </p:txBody>
          </p:sp>
          <p:sp>
            <p:nvSpPr>
              <p:cNvPr id="28" name="Text 24"/>
              <p:cNvSpPr/>
              <p:nvPr>
                <p:custDataLst>
                  <p:tags r:id="rId19"/>
                </p:custDataLst>
              </p:nvPr>
            </p:nvSpPr>
            <p:spPr>
              <a:xfrm>
                <a:off x="1447" y="7471"/>
                <a:ext cx="1250" cy="6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04</a:t>
                </a:r>
                <a:endParaRPr lang="en-US" sz="1600" dirty="0"/>
              </a:p>
            </p:txBody>
          </p:sp>
          <p:sp>
            <p:nvSpPr>
              <p:cNvPr id="30" name="Text 26"/>
              <p:cNvSpPr/>
              <p:nvPr/>
            </p:nvSpPr>
            <p:spPr>
              <a:xfrm>
                <a:off x="2807" y="7335"/>
                <a:ext cx="8602" cy="1040"/>
              </a:xfrm>
              <a:prstGeom prst="rect">
                <a:avLst/>
              </a:prstGeom>
              <a:noFill/>
            </p:spPr>
            <p:txBody>
              <a:bodyPr wrap="square" lIns="45720" tIns="91440" rIns="91440" bIns="45720" rtlCol="0" anchor="ctr"/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sz="1600" dirty="0"/>
              </a:p>
            </p:txBody>
          </p:sp>
        </p:grpSp>
        <p:grpSp>
          <p:nvGrpSpPr>
            <p:cNvPr id="46" name="组合 45"/>
            <p:cNvGrpSpPr/>
            <p:nvPr>
              <p:custDataLst>
                <p:tags r:id="rId6"/>
              </p:custDataLst>
            </p:nvPr>
          </p:nvGrpSpPr>
          <p:grpSpPr>
            <a:xfrm>
              <a:off x="1429" y="7976"/>
              <a:ext cx="9870" cy="1040"/>
              <a:chOff x="1539" y="8701"/>
              <a:chExt cx="9870" cy="1040"/>
            </a:xfrm>
          </p:grpSpPr>
          <p:sp>
            <p:nvSpPr>
              <p:cNvPr id="35" name="Shape 31"/>
              <p:cNvSpPr/>
              <p:nvPr>
                <p:custDataLst>
                  <p:tags r:id="rId12"/>
                </p:custDataLst>
              </p:nvPr>
            </p:nvSpPr>
            <p:spPr>
              <a:xfrm>
                <a:off x="2807" y="8701"/>
                <a:ext cx="8602" cy="1040"/>
              </a:xfrm>
              <a:prstGeom prst="roundRect">
                <a:avLst/>
              </a:prstGeom>
              <a:solidFill>
                <a:srgbClr val="000000">
                  <a:alpha val="0"/>
                </a:srgbClr>
              </a:solidFill>
              <a:ln w="19050">
                <a:solidFill>
                  <a:srgbClr val="015DBB"/>
                </a:solidFill>
                <a:prstDash val="solid"/>
              </a:ln>
            </p:spPr>
          </p:sp>
          <p:sp>
            <p:nvSpPr>
              <p:cNvPr id="31" name="Text 27"/>
              <p:cNvSpPr/>
              <p:nvPr>
                <p:custDataLst>
                  <p:tags r:id="rId13"/>
                </p:custDataLst>
              </p:nvPr>
            </p:nvSpPr>
            <p:spPr>
              <a:xfrm>
                <a:off x="2954" y="8944"/>
                <a:ext cx="8165" cy="58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后端数据操作</a:t>
                </a:r>
              </a:p>
            </p:txBody>
          </p:sp>
          <p:sp>
            <p:nvSpPr>
              <p:cNvPr id="32" name="Shape 28"/>
              <p:cNvSpPr/>
              <p:nvPr>
                <p:custDataLst>
                  <p:tags r:id="rId14"/>
                </p:custDataLst>
              </p:nvPr>
            </p:nvSpPr>
            <p:spPr>
              <a:xfrm>
                <a:off x="1539" y="8701"/>
                <a:ext cx="1090" cy="1040"/>
              </a:xfrm>
              <a:prstGeom prst="roundRect">
                <a:avLst/>
              </a:prstGeom>
              <a:solidFill>
                <a:srgbClr val="015DBB"/>
              </a:solidFill>
            </p:spPr>
          </p:sp>
          <p:sp>
            <p:nvSpPr>
              <p:cNvPr id="33" name="Text 29"/>
              <p:cNvSpPr/>
              <p:nvPr/>
            </p:nvSpPr>
            <p:spPr>
              <a:xfrm>
                <a:off x="1539" y="8701"/>
                <a:ext cx="1090" cy="1040"/>
              </a:xfrm>
              <a:prstGeom prst="rect">
                <a:avLst/>
              </a:prstGeom>
              <a:noFill/>
            </p:spPr>
            <p:txBody>
              <a:bodyPr wrap="square" lIns="45720" tIns="91440" rIns="91440" bIns="45720" rtlCol="0" anchor="ctr"/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sz="1600" dirty="0"/>
              </a:p>
            </p:txBody>
          </p:sp>
          <p:sp>
            <p:nvSpPr>
              <p:cNvPr id="34" name="Text 30"/>
              <p:cNvSpPr/>
              <p:nvPr>
                <p:custDataLst>
                  <p:tags r:id="rId15"/>
                </p:custDataLst>
              </p:nvPr>
            </p:nvSpPr>
            <p:spPr>
              <a:xfrm>
                <a:off x="1556" y="8837"/>
                <a:ext cx="1033" cy="6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05</a:t>
                </a:r>
                <a:endParaRPr lang="en-US" sz="1600" dirty="0"/>
              </a:p>
            </p:txBody>
          </p:sp>
          <p:sp>
            <p:nvSpPr>
              <p:cNvPr id="36" name="Text 32"/>
              <p:cNvSpPr/>
              <p:nvPr/>
            </p:nvSpPr>
            <p:spPr>
              <a:xfrm>
                <a:off x="2807" y="8701"/>
                <a:ext cx="8602" cy="1040"/>
              </a:xfrm>
              <a:prstGeom prst="rect">
                <a:avLst/>
              </a:prstGeom>
              <a:noFill/>
            </p:spPr>
            <p:txBody>
              <a:bodyPr wrap="square" lIns="45720" tIns="91440" rIns="91440" bIns="45720" rtlCol="0" anchor="ctr"/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sz="1600" dirty="0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7"/>
              </p:custDataLst>
            </p:nvPr>
          </p:nvGrpSpPr>
          <p:grpSpPr>
            <a:xfrm>
              <a:off x="1429" y="9370"/>
              <a:ext cx="9870" cy="1040"/>
              <a:chOff x="1539" y="8701"/>
              <a:chExt cx="9870" cy="1040"/>
            </a:xfrm>
          </p:grpSpPr>
          <p:sp>
            <p:nvSpPr>
              <p:cNvPr id="52" name="Shape 31"/>
              <p:cNvSpPr/>
              <p:nvPr>
                <p:custDataLst>
                  <p:tags r:id="rId8"/>
                </p:custDataLst>
              </p:nvPr>
            </p:nvSpPr>
            <p:spPr>
              <a:xfrm>
                <a:off x="2807" y="8701"/>
                <a:ext cx="8602" cy="1040"/>
              </a:xfrm>
              <a:prstGeom prst="roundRect">
                <a:avLst/>
              </a:prstGeom>
              <a:solidFill>
                <a:srgbClr val="000000">
                  <a:alpha val="0"/>
                </a:srgbClr>
              </a:solidFill>
              <a:ln w="19050">
                <a:solidFill>
                  <a:srgbClr val="015DBB"/>
                </a:solidFill>
                <a:prstDash val="solid"/>
              </a:ln>
            </p:spPr>
          </p:sp>
          <p:sp>
            <p:nvSpPr>
              <p:cNvPr id="48" name="Text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2954" y="8944"/>
                <a:ext cx="8165" cy="58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可视化展示</a:t>
                </a:r>
              </a:p>
            </p:txBody>
          </p:sp>
          <p:sp>
            <p:nvSpPr>
              <p:cNvPr id="49" name="Shape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539" y="8701"/>
                <a:ext cx="1090" cy="1040"/>
              </a:xfrm>
              <a:prstGeom prst="roundRect">
                <a:avLst/>
              </a:prstGeom>
              <a:solidFill>
                <a:srgbClr val="015DBB"/>
              </a:solidFill>
            </p:spPr>
          </p:sp>
          <p:sp>
            <p:nvSpPr>
              <p:cNvPr id="50" name="Text 29"/>
              <p:cNvSpPr/>
              <p:nvPr/>
            </p:nvSpPr>
            <p:spPr>
              <a:xfrm>
                <a:off x="1539" y="8701"/>
                <a:ext cx="1090" cy="1040"/>
              </a:xfrm>
              <a:prstGeom prst="rect">
                <a:avLst/>
              </a:prstGeom>
              <a:noFill/>
            </p:spPr>
            <p:txBody>
              <a:bodyPr wrap="square" lIns="45720" tIns="91440" rIns="91440" bIns="45720" rtlCol="0" anchor="ctr"/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sz="1600" dirty="0"/>
              </a:p>
            </p:txBody>
          </p:sp>
          <p:sp>
            <p:nvSpPr>
              <p:cNvPr id="51" name="Text 30"/>
              <p:cNvSpPr/>
              <p:nvPr>
                <p:custDataLst>
                  <p:tags r:id="rId11"/>
                </p:custDataLst>
              </p:nvPr>
            </p:nvSpPr>
            <p:spPr>
              <a:xfrm>
                <a:off x="1556" y="8837"/>
                <a:ext cx="1033" cy="82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MiSans" pitchFamily="34" charset="-122"/>
                    <a:ea typeface="MiSans" pitchFamily="34" charset="-122"/>
                    <a:cs typeface="MiSans" pitchFamily="34" charset="-120"/>
                  </a:rPr>
                  <a:t>06</a:t>
                </a:r>
                <a:endParaRPr lang="en-US" sz="1600" dirty="0"/>
              </a:p>
            </p:txBody>
          </p:sp>
          <p:sp>
            <p:nvSpPr>
              <p:cNvPr id="53" name="Text 32"/>
              <p:cNvSpPr/>
              <p:nvPr/>
            </p:nvSpPr>
            <p:spPr>
              <a:xfrm>
                <a:off x="2807" y="8701"/>
                <a:ext cx="8602" cy="1040"/>
              </a:xfrm>
              <a:prstGeom prst="rect">
                <a:avLst/>
              </a:prstGeom>
              <a:noFill/>
            </p:spPr>
            <p:txBody>
              <a:bodyPr wrap="square" lIns="45720" tIns="91440" rIns="91440" bIns="45720" rtlCol="0" anchor="ctr"/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sz="1600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608965" y="0"/>
            <a:ext cx="11582400" cy="6858000"/>
            <a:chOff x="959" y="-1"/>
            <a:chExt cx="18240" cy="10800"/>
          </a:xfrm>
        </p:grpSpPr>
        <p:pic>
          <p:nvPicPr>
            <p:cNvPr id="15" name="Image 2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11539" y="3139"/>
              <a:ext cx="10801" cy="4521"/>
            </a:xfrm>
            <a:prstGeom prst="rect">
              <a:avLst/>
            </a:prstGeom>
          </p:spPr>
        </p:pic>
        <p:pic>
          <p:nvPicPr>
            <p:cNvPr id="16" name="Image 3" descr="https://kimi-img.moonshot.cn/pub/slides/slides_tmpl/image/25-09-08-12:55:40-d2v63j5nfo2stf9dk4n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1" y="1785"/>
              <a:ext cx="697" cy="553"/>
            </a:xfrm>
            <a:prstGeom prst="rect">
              <a:avLst/>
            </a:prstGeom>
          </p:spPr>
        </p:pic>
        <p:sp>
          <p:nvSpPr>
            <p:cNvPr id="17" name="Shape 11"/>
            <p:cNvSpPr/>
            <p:nvPr/>
          </p:nvSpPr>
          <p:spPr>
            <a:xfrm>
              <a:off x="12264" y="1199"/>
              <a:ext cx="1798" cy="1139"/>
            </a:xfrm>
            <a:custGeom>
              <a:avLst/>
              <a:gdLst/>
              <a:ahLst/>
              <a:cxnLst/>
              <a:rect l="l" t="t" r="r" b="b"/>
              <a:pathLst>
                <a:path w="1141923" h="723293">
                  <a:moveTo>
                    <a:pt x="50838" y="25788"/>
                  </a:moveTo>
                  <a:cubicBezTo>
                    <a:pt x="50838" y="40086"/>
                    <a:pt x="39239" y="51676"/>
                    <a:pt x="24931" y="51676"/>
                  </a:cubicBezTo>
                  <a:cubicBezTo>
                    <a:pt x="10623" y="51676"/>
                    <a:pt x="-976" y="40086"/>
                    <a:pt x="-976" y="25788"/>
                  </a:cubicBezTo>
                  <a:cubicBezTo>
                    <a:pt x="-976" y="11490"/>
                    <a:pt x="10623" y="-101"/>
                    <a:pt x="24931" y="-101"/>
                  </a:cubicBezTo>
                  <a:cubicBezTo>
                    <a:pt x="39233" y="-108"/>
                    <a:pt x="50831" y="11473"/>
                    <a:pt x="50838" y="25763"/>
                  </a:cubicBezTo>
                  <a:cubicBezTo>
                    <a:pt x="50838" y="25772"/>
                    <a:pt x="50838" y="25780"/>
                    <a:pt x="50838" y="25788"/>
                  </a:cubicBezTo>
                  <a:close/>
                  <a:moveTo>
                    <a:pt x="269068" y="25788"/>
                  </a:moveTo>
                  <a:cubicBezTo>
                    <a:pt x="269068" y="40086"/>
                    <a:pt x="257469" y="51676"/>
                    <a:pt x="243160" y="51676"/>
                  </a:cubicBezTo>
                  <a:cubicBezTo>
                    <a:pt x="228853" y="51676"/>
                    <a:pt x="217253" y="40086"/>
                    <a:pt x="217253" y="25788"/>
                  </a:cubicBezTo>
                  <a:cubicBezTo>
                    <a:pt x="217253" y="11490"/>
                    <a:pt x="228853" y="-101"/>
                    <a:pt x="243160" y="-101"/>
                  </a:cubicBezTo>
                  <a:cubicBezTo>
                    <a:pt x="257461" y="-84"/>
                    <a:pt x="269051" y="11497"/>
                    <a:pt x="269068" y="25788"/>
                  </a:cubicBezTo>
                  <a:close/>
                  <a:moveTo>
                    <a:pt x="487237" y="25788"/>
                  </a:moveTo>
                  <a:cubicBezTo>
                    <a:pt x="487237" y="40086"/>
                    <a:pt x="475637" y="51676"/>
                    <a:pt x="461329" y="51676"/>
                  </a:cubicBezTo>
                  <a:cubicBezTo>
                    <a:pt x="447021" y="51676"/>
                    <a:pt x="435422" y="40086"/>
                    <a:pt x="435422" y="25788"/>
                  </a:cubicBezTo>
                  <a:cubicBezTo>
                    <a:pt x="435422" y="11490"/>
                    <a:pt x="447021" y="-101"/>
                    <a:pt x="461329" y="-101"/>
                  </a:cubicBezTo>
                  <a:cubicBezTo>
                    <a:pt x="475631" y="-108"/>
                    <a:pt x="487229" y="11473"/>
                    <a:pt x="487237" y="25763"/>
                  </a:cubicBezTo>
                  <a:cubicBezTo>
                    <a:pt x="487237" y="25772"/>
                    <a:pt x="487237" y="25780"/>
                    <a:pt x="487237" y="25788"/>
                  </a:cubicBezTo>
                  <a:close/>
                  <a:moveTo>
                    <a:pt x="705466" y="25788"/>
                  </a:moveTo>
                  <a:cubicBezTo>
                    <a:pt x="705466" y="40086"/>
                    <a:pt x="693867" y="51676"/>
                    <a:pt x="679559" y="51676"/>
                  </a:cubicBezTo>
                  <a:cubicBezTo>
                    <a:pt x="665250" y="51676"/>
                    <a:pt x="653652" y="40086"/>
                    <a:pt x="653652" y="25788"/>
                  </a:cubicBezTo>
                  <a:cubicBezTo>
                    <a:pt x="653652" y="11490"/>
                    <a:pt x="665250" y="-101"/>
                    <a:pt x="679559" y="-101"/>
                  </a:cubicBezTo>
                  <a:cubicBezTo>
                    <a:pt x="693861" y="-108"/>
                    <a:pt x="705458" y="11473"/>
                    <a:pt x="705466" y="25763"/>
                  </a:cubicBezTo>
                  <a:cubicBezTo>
                    <a:pt x="705466" y="25772"/>
                    <a:pt x="705466" y="25780"/>
                    <a:pt x="705466" y="25788"/>
                  </a:cubicBezTo>
                  <a:close/>
                  <a:moveTo>
                    <a:pt x="923695" y="25788"/>
                  </a:moveTo>
                  <a:cubicBezTo>
                    <a:pt x="923695" y="40086"/>
                    <a:pt x="912096" y="51676"/>
                    <a:pt x="897788" y="51676"/>
                  </a:cubicBezTo>
                  <a:cubicBezTo>
                    <a:pt x="883481" y="51676"/>
                    <a:pt x="871881" y="40086"/>
                    <a:pt x="871881" y="25788"/>
                  </a:cubicBezTo>
                  <a:cubicBezTo>
                    <a:pt x="871881" y="11490"/>
                    <a:pt x="883481" y="-101"/>
                    <a:pt x="897788" y="-101"/>
                  </a:cubicBezTo>
                  <a:cubicBezTo>
                    <a:pt x="912090" y="-108"/>
                    <a:pt x="923688" y="11473"/>
                    <a:pt x="923695" y="25763"/>
                  </a:cubicBezTo>
                  <a:cubicBezTo>
                    <a:pt x="923695" y="25772"/>
                    <a:pt x="923695" y="25780"/>
                    <a:pt x="923695" y="25788"/>
                  </a:cubicBezTo>
                  <a:close/>
                  <a:moveTo>
                    <a:pt x="1141923" y="25788"/>
                  </a:moveTo>
                  <a:cubicBezTo>
                    <a:pt x="1141923" y="40086"/>
                    <a:pt x="1130324" y="51676"/>
                    <a:pt x="1116016" y="51676"/>
                  </a:cubicBezTo>
                  <a:cubicBezTo>
                    <a:pt x="1101708" y="51676"/>
                    <a:pt x="1090109" y="40086"/>
                    <a:pt x="1090109" y="25788"/>
                  </a:cubicBezTo>
                  <a:cubicBezTo>
                    <a:pt x="1090109" y="11490"/>
                    <a:pt x="1101708" y="-101"/>
                    <a:pt x="1116016" y="-101"/>
                  </a:cubicBezTo>
                  <a:cubicBezTo>
                    <a:pt x="1130316" y="-84"/>
                    <a:pt x="1141907" y="11497"/>
                    <a:pt x="1141923" y="25788"/>
                  </a:cubicBezTo>
                  <a:close/>
                  <a:moveTo>
                    <a:pt x="50838" y="193692"/>
                  </a:moveTo>
                  <a:cubicBezTo>
                    <a:pt x="50838" y="207990"/>
                    <a:pt x="39239" y="219580"/>
                    <a:pt x="24931" y="219580"/>
                  </a:cubicBezTo>
                  <a:cubicBezTo>
                    <a:pt x="10623" y="219580"/>
                    <a:pt x="-976" y="207990"/>
                    <a:pt x="-976" y="193692"/>
                  </a:cubicBezTo>
                  <a:cubicBezTo>
                    <a:pt x="-976" y="179394"/>
                    <a:pt x="10623" y="167803"/>
                    <a:pt x="24931" y="167803"/>
                  </a:cubicBezTo>
                  <a:cubicBezTo>
                    <a:pt x="39233" y="167796"/>
                    <a:pt x="50831" y="179377"/>
                    <a:pt x="50838" y="193668"/>
                  </a:cubicBezTo>
                  <a:cubicBezTo>
                    <a:pt x="50838" y="193676"/>
                    <a:pt x="50838" y="193684"/>
                    <a:pt x="50838" y="193692"/>
                  </a:cubicBezTo>
                  <a:close/>
                  <a:moveTo>
                    <a:pt x="269068" y="193692"/>
                  </a:moveTo>
                  <a:cubicBezTo>
                    <a:pt x="269068" y="207990"/>
                    <a:pt x="257469" y="219580"/>
                    <a:pt x="243160" y="219580"/>
                  </a:cubicBezTo>
                  <a:cubicBezTo>
                    <a:pt x="228853" y="219580"/>
                    <a:pt x="217253" y="207990"/>
                    <a:pt x="217253" y="193692"/>
                  </a:cubicBezTo>
                  <a:cubicBezTo>
                    <a:pt x="217253" y="179394"/>
                    <a:pt x="228853" y="167803"/>
                    <a:pt x="243160" y="167803"/>
                  </a:cubicBezTo>
                  <a:cubicBezTo>
                    <a:pt x="257461" y="167820"/>
                    <a:pt x="269051" y="179401"/>
                    <a:pt x="269068" y="193692"/>
                  </a:cubicBezTo>
                  <a:close/>
                  <a:moveTo>
                    <a:pt x="487237" y="193692"/>
                  </a:moveTo>
                  <a:cubicBezTo>
                    <a:pt x="487237" y="207990"/>
                    <a:pt x="475637" y="219580"/>
                    <a:pt x="461329" y="219580"/>
                  </a:cubicBezTo>
                  <a:cubicBezTo>
                    <a:pt x="447021" y="219580"/>
                    <a:pt x="435422" y="207990"/>
                    <a:pt x="435422" y="193692"/>
                  </a:cubicBezTo>
                  <a:cubicBezTo>
                    <a:pt x="435422" y="179394"/>
                    <a:pt x="447021" y="167803"/>
                    <a:pt x="461329" y="167803"/>
                  </a:cubicBezTo>
                  <a:cubicBezTo>
                    <a:pt x="475631" y="167796"/>
                    <a:pt x="487229" y="179377"/>
                    <a:pt x="487237" y="193668"/>
                  </a:cubicBezTo>
                  <a:cubicBezTo>
                    <a:pt x="487237" y="193676"/>
                    <a:pt x="487237" y="193684"/>
                    <a:pt x="487237" y="193692"/>
                  </a:cubicBezTo>
                  <a:close/>
                  <a:moveTo>
                    <a:pt x="705466" y="193692"/>
                  </a:moveTo>
                  <a:cubicBezTo>
                    <a:pt x="705466" y="207990"/>
                    <a:pt x="693867" y="219580"/>
                    <a:pt x="679559" y="219580"/>
                  </a:cubicBezTo>
                  <a:cubicBezTo>
                    <a:pt x="665250" y="219580"/>
                    <a:pt x="653652" y="207990"/>
                    <a:pt x="653652" y="193692"/>
                  </a:cubicBezTo>
                  <a:cubicBezTo>
                    <a:pt x="653652" y="179394"/>
                    <a:pt x="665250" y="167803"/>
                    <a:pt x="679559" y="167803"/>
                  </a:cubicBezTo>
                  <a:cubicBezTo>
                    <a:pt x="693861" y="167796"/>
                    <a:pt x="705458" y="179377"/>
                    <a:pt x="705466" y="193668"/>
                  </a:cubicBezTo>
                  <a:cubicBezTo>
                    <a:pt x="705466" y="193676"/>
                    <a:pt x="705466" y="193684"/>
                    <a:pt x="705466" y="193692"/>
                  </a:cubicBezTo>
                  <a:close/>
                  <a:moveTo>
                    <a:pt x="923695" y="193692"/>
                  </a:moveTo>
                  <a:cubicBezTo>
                    <a:pt x="923695" y="207990"/>
                    <a:pt x="912096" y="219580"/>
                    <a:pt x="897788" y="219580"/>
                  </a:cubicBezTo>
                  <a:cubicBezTo>
                    <a:pt x="883481" y="219580"/>
                    <a:pt x="871881" y="207990"/>
                    <a:pt x="871881" y="193692"/>
                  </a:cubicBezTo>
                  <a:cubicBezTo>
                    <a:pt x="871881" y="179394"/>
                    <a:pt x="883481" y="167803"/>
                    <a:pt x="897788" y="167803"/>
                  </a:cubicBezTo>
                  <a:cubicBezTo>
                    <a:pt x="912090" y="167796"/>
                    <a:pt x="923688" y="179377"/>
                    <a:pt x="923695" y="193668"/>
                  </a:cubicBezTo>
                  <a:cubicBezTo>
                    <a:pt x="923695" y="193676"/>
                    <a:pt x="923695" y="193684"/>
                    <a:pt x="923695" y="193692"/>
                  </a:cubicBezTo>
                  <a:close/>
                  <a:moveTo>
                    <a:pt x="1141923" y="193692"/>
                  </a:moveTo>
                  <a:cubicBezTo>
                    <a:pt x="1141923" y="207990"/>
                    <a:pt x="1130324" y="219580"/>
                    <a:pt x="1116016" y="219580"/>
                  </a:cubicBezTo>
                  <a:cubicBezTo>
                    <a:pt x="1101708" y="219580"/>
                    <a:pt x="1090109" y="207990"/>
                    <a:pt x="1090109" y="193692"/>
                  </a:cubicBezTo>
                  <a:cubicBezTo>
                    <a:pt x="1090109" y="179394"/>
                    <a:pt x="1101708" y="167803"/>
                    <a:pt x="1116016" y="167803"/>
                  </a:cubicBezTo>
                  <a:cubicBezTo>
                    <a:pt x="1130316" y="167820"/>
                    <a:pt x="1141907" y="179401"/>
                    <a:pt x="1141923" y="193692"/>
                  </a:cubicBezTo>
                  <a:close/>
                  <a:moveTo>
                    <a:pt x="50838" y="361596"/>
                  </a:moveTo>
                  <a:cubicBezTo>
                    <a:pt x="50838" y="375894"/>
                    <a:pt x="39239" y="387485"/>
                    <a:pt x="24931" y="387485"/>
                  </a:cubicBezTo>
                  <a:cubicBezTo>
                    <a:pt x="10623" y="387485"/>
                    <a:pt x="-976" y="375894"/>
                    <a:pt x="-976" y="361596"/>
                  </a:cubicBezTo>
                  <a:cubicBezTo>
                    <a:pt x="-976" y="347298"/>
                    <a:pt x="10623" y="335707"/>
                    <a:pt x="24931" y="335707"/>
                  </a:cubicBezTo>
                  <a:cubicBezTo>
                    <a:pt x="39233" y="335700"/>
                    <a:pt x="50831" y="347280"/>
                    <a:pt x="50838" y="361571"/>
                  </a:cubicBezTo>
                  <a:cubicBezTo>
                    <a:pt x="50838" y="361579"/>
                    <a:pt x="50838" y="361588"/>
                    <a:pt x="50838" y="361596"/>
                  </a:cubicBezTo>
                  <a:close/>
                  <a:moveTo>
                    <a:pt x="269068" y="361596"/>
                  </a:moveTo>
                  <a:cubicBezTo>
                    <a:pt x="269068" y="375894"/>
                    <a:pt x="257469" y="387485"/>
                    <a:pt x="243160" y="387485"/>
                  </a:cubicBezTo>
                  <a:cubicBezTo>
                    <a:pt x="228853" y="387485"/>
                    <a:pt x="217253" y="375894"/>
                    <a:pt x="217253" y="361596"/>
                  </a:cubicBezTo>
                  <a:cubicBezTo>
                    <a:pt x="217253" y="347298"/>
                    <a:pt x="228853" y="335707"/>
                    <a:pt x="243160" y="335707"/>
                  </a:cubicBezTo>
                  <a:cubicBezTo>
                    <a:pt x="257461" y="335724"/>
                    <a:pt x="269051" y="347305"/>
                    <a:pt x="269068" y="361596"/>
                  </a:cubicBezTo>
                  <a:close/>
                  <a:moveTo>
                    <a:pt x="487237" y="361596"/>
                  </a:moveTo>
                  <a:cubicBezTo>
                    <a:pt x="487237" y="375894"/>
                    <a:pt x="475637" y="387485"/>
                    <a:pt x="461329" y="387485"/>
                  </a:cubicBezTo>
                  <a:cubicBezTo>
                    <a:pt x="447021" y="387485"/>
                    <a:pt x="435422" y="375894"/>
                    <a:pt x="435422" y="361596"/>
                  </a:cubicBezTo>
                  <a:cubicBezTo>
                    <a:pt x="435422" y="347298"/>
                    <a:pt x="447021" y="335707"/>
                    <a:pt x="461329" y="335707"/>
                  </a:cubicBezTo>
                  <a:cubicBezTo>
                    <a:pt x="475631" y="335700"/>
                    <a:pt x="487229" y="347280"/>
                    <a:pt x="487237" y="361571"/>
                  </a:cubicBezTo>
                  <a:cubicBezTo>
                    <a:pt x="487237" y="361579"/>
                    <a:pt x="487237" y="361588"/>
                    <a:pt x="487237" y="361596"/>
                  </a:cubicBezTo>
                  <a:close/>
                  <a:moveTo>
                    <a:pt x="705466" y="361596"/>
                  </a:moveTo>
                  <a:cubicBezTo>
                    <a:pt x="705466" y="375894"/>
                    <a:pt x="693867" y="387485"/>
                    <a:pt x="679559" y="387485"/>
                  </a:cubicBezTo>
                  <a:cubicBezTo>
                    <a:pt x="665250" y="387485"/>
                    <a:pt x="653652" y="375894"/>
                    <a:pt x="653652" y="361596"/>
                  </a:cubicBezTo>
                  <a:cubicBezTo>
                    <a:pt x="653652" y="347298"/>
                    <a:pt x="665250" y="335707"/>
                    <a:pt x="679559" y="335707"/>
                  </a:cubicBezTo>
                  <a:cubicBezTo>
                    <a:pt x="693861" y="335700"/>
                    <a:pt x="705458" y="347280"/>
                    <a:pt x="705466" y="361571"/>
                  </a:cubicBezTo>
                  <a:cubicBezTo>
                    <a:pt x="705466" y="361579"/>
                    <a:pt x="705466" y="361588"/>
                    <a:pt x="705466" y="361596"/>
                  </a:cubicBezTo>
                  <a:close/>
                  <a:moveTo>
                    <a:pt x="923695" y="361596"/>
                  </a:moveTo>
                  <a:cubicBezTo>
                    <a:pt x="923695" y="375894"/>
                    <a:pt x="912096" y="387485"/>
                    <a:pt x="897788" y="387485"/>
                  </a:cubicBezTo>
                  <a:cubicBezTo>
                    <a:pt x="883481" y="387485"/>
                    <a:pt x="871881" y="375894"/>
                    <a:pt x="871881" y="361596"/>
                  </a:cubicBezTo>
                  <a:cubicBezTo>
                    <a:pt x="871881" y="347298"/>
                    <a:pt x="883481" y="335707"/>
                    <a:pt x="897788" y="335707"/>
                  </a:cubicBezTo>
                  <a:cubicBezTo>
                    <a:pt x="912090" y="335700"/>
                    <a:pt x="923688" y="347280"/>
                    <a:pt x="923695" y="361571"/>
                  </a:cubicBezTo>
                  <a:cubicBezTo>
                    <a:pt x="923695" y="361579"/>
                    <a:pt x="923695" y="361588"/>
                    <a:pt x="923695" y="361596"/>
                  </a:cubicBezTo>
                  <a:close/>
                  <a:moveTo>
                    <a:pt x="1141923" y="361596"/>
                  </a:moveTo>
                  <a:cubicBezTo>
                    <a:pt x="1141923" y="375894"/>
                    <a:pt x="1130324" y="387485"/>
                    <a:pt x="1116016" y="387485"/>
                  </a:cubicBezTo>
                  <a:cubicBezTo>
                    <a:pt x="1101708" y="387485"/>
                    <a:pt x="1090109" y="375894"/>
                    <a:pt x="1090109" y="361596"/>
                  </a:cubicBezTo>
                  <a:cubicBezTo>
                    <a:pt x="1090109" y="347298"/>
                    <a:pt x="1101708" y="335707"/>
                    <a:pt x="1116016" y="335707"/>
                  </a:cubicBezTo>
                  <a:cubicBezTo>
                    <a:pt x="1130316" y="335724"/>
                    <a:pt x="1141907" y="347305"/>
                    <a:pt x="1141923" y="361596"/>
                  </a:cubicBezTo>
                  <a:close/>
                  <a:moveTo>
                    <a:pt x="50838" y="529500"/>
                  </a:moveTo>
                  <a:cubicBezTo>
                    <a:pt x="50838" y="543798"/>
                    <a:pt x="39239" y="555389"/>
                    <a:pt x="24931" y="555389"/>
                  </a:cubicBezTo>
                  <a:cubicBezTo>
                    <a:pt x="10623" y="555389"/>
                    <a:pt x="-976" y="543798"/>
                    <a:pt x="-976" y="529500"/>
                  </a:cubicBezTo>
                  <a:cubicBezTo>
                    <a:pt x="-976" y="515202"/>
                    <a:pt x="10623" y="503612"/>
                    <a:pt x="24931" y="503612"/>
                  </a:cubicBezTo>
                  <a:cubicBezTo>
                    <a:pt x="39233" y="503605"/>
                    <a:pt x="50831" y="515184"/>
                    <a:pt x="50838" y="529475"/>
                  </a:cubicBezTo>
                  <a:cubicBezTo>
                    <a:pt x="50838" y="529484"/>
                    <a:pt x="50838" y="529492"/>
                    <a:pt x="50838" y="529500"/>
                  </a:cubicBezTo>
                  <a:close/>
                  <a:moveTo>
                    <a:pt x="269068" y="529500"/>
                  </a:moveTo>
                  <a:cubicBezTo>
                    <a:pt x="269068" y="543798"/>
                    <a:pt x="257469" y="555389"/>
                    <a:pt x="243160" y="555389"/>
                  </a:cubicBezTo>
                  <a:cubicBezTo>
                    <a:pt x="228853" y="555389"/>
                    <a:pt x="217253" y="543798"/>
                    <a:pt x="217253" y="529500"/>
                  </a:cubicBezTo>
                  <a:cubicBezTo>
                    <a:pt x="217253" y="515202"/>
                    <a:pt x="228853" y="503612"/>
                    <a:pt x="243160" y="503612"/>
                  </a:cubicBezTo>
                  <a:cubicBezTo>
                    <a:pt x="257461" y="503629"/>
                    <a:pt x="269051" y="515209"/>
                    <a:pt x="269068" y="529500"/>
                  </a:cubicBezTo>
                  <a:close/>
                  <a:moveTo>
                    <a:pt x="487237" y="529500"/>
                  </a:moveTo>
                  <a:cubicBezTo>
                    <a:pt x="487237" y="543798"/>
                    <a:pt x="475637" y="555389"/>
                    <a:pt x="461329" y="555389"/>
                  </a:cubicBezTo>
                  <a:cubicBezTo>
                    <a:pt x="447021" y="555389"/>
                    <a:pt x="435422" y="543798"/>
                    <a:pt x="435422" y="529500"/>
                  </a:cubicBezTo>
                  <a:cubicBezTo>
                    <a:pt x="435422" y="515202"/>
                    <a:pt x="447021" y="503612"/>
                    <a:pt x="461329" y="503612"/>
                  </a:cubicBezTo>
                  <a:cubicBezTo>
                    <a:pt x="475631" y="503605"/>
                    <a:pt x="487229" y="515184"/>
                    <a:pt x="487237" y="529475"/>
                  </a:cubicBezTo>
                  <a:cubicBezTo>
                    <a:pt x="487237" y="529484"/>
                    <a:pt x="487237" y="529492"/>
                    <a:pt x="487237" y="529500"/>
                  </a:cubicBezTo>
                  <a:close/>
                  <a:moveTo>
                    <a:pt x="705466" y="529500"/>
                  </a:moveTo>
                  <a:cubicBezTo>
                    <a:pt x="705466" y="543798"/>
                    <a:pt x="693867" y="555389"/>
                    <a:pt x="679559" y="555389"/>
                  </a:cubicBezTo>
                  <a:cubicBezTo>
                    <a:pt x="665250" y="555389"/>
                    <a:pt x="653652" y="543798"/>
                    <a:pt x="653652" y="529500"/>
                  </a:cubicBezTo>
                  <a:cubicBezTo>
                    <a:pt x="653652" y="515202"/>
                    <a:pt x="665250" y="503612"/>
                    <a:pt x="679559" y="503612"/>
                  </a:cubicBezTo>
                  <a:cubicBezTo>
                    <a:pt x="693861" y="503605"/>
                    <a:pt x="705458" y="515184"/>
                    <a:pt x="705466" y="529475"/>
                  </a:cubicBezTo>
                  <a:cubicBezTo>
                    <a:pt x="705466" y="529484"/>
                    <a:pt x="705466" y="529492"/>
                    <a:pt x="705466" y="529500"/>
                  </a:cubicBezTo>
                  <a:close/>
                  <a:moveTo>
                    <a:pt x="923695" y="529500"/>
                  </a:moveTo>
                  <a:cubicBezTo>
                    <a:pt x="923695" y="543798"/>
                    <a:pt x="912096" y="555389"/>
                    <a:pt x="897788" y="555389"/>
                  </a:cubicBezTo>
                  <a:cubicBezTo>
                    <a:pt x="883481" y="555389"/>
                    <a:pt x="871881" y="543798"/>
                    <a:pt x="871881" y="529500"/>
                  </a:cubicBezTo>
                  <a:cubicBezTo>
                    <a:pt x="871881" y="515202"/>
                    <a:pt x="883481" y="503612"/>
                    <a:pt x="897788" y="503612"/>
                  </a:cubicBezTo>
                  <a:cubicBezTo>
                    <a:pt x="912090" y="503605"/>
                    <a:pt x="923688" y="515184"/>
                    <a:pt x="923695" y="529475"/>
                  </a:cubicBezTo>
                  <a:cubicBezTo>
                    <a:pt x="923695" y="529484"/>
                    <a:pt x="923695" y="529492"/>
                    <a:pt x="923695" y="529500"/>
                  </a:cubicBezTo>
                  <a:close/>
                  <a:moveTo>
                    <a:pt x="1141923" y="529500"/>
                  </a:moveTo>
                  <a:cubicBezTo>
                    <a:pt x="1141923" y="543798"/>
                    <a:pt x="1130324" y="555389"/>
                    <a:pt x="1116016" y="555389"/>
                  </a:cubicBezTo>
                  <a:cubicBezTo>
                    <a:pt x="1101708" y="555389"/>
                    <a:pt x="1090109" y="543798"/>
                    <a:pt x="1090109" y="529500"/>
                  </a:cubicBezTo>
                  <a:cubicBezTo>
                    <a:pt x="1090109" y="515202"/>
                    <a:pt x="1101708" y="503612"/>
                    <a:pt x="1116016" y="503612"/>
                  </a:cubicBezTo>
                  <a:cubicBezTo>
                    <a:pt x="1130316" y="503629"/>
                    <a:pt x="1141907" y="515209"/>
                    <a:pt x="1141923" y="529500"/>
                  </a:cubicBezTo>
                  <a:close/>
                  <a:moveTo>
                    <a:pt x="50838" y="697404"/>
                  </a:moveTo>
                  <a:cubicBezTo>
                    <a:pt x="50838" y="711702"/>
                    <a:pt x="39239" y="723293"/>
                    <a:pt x="24931" y="723293"/>
                  </a:cubicBezTo>
                  <a:cubicBezTo>
                    <a:pt x="10623" y="723293"/>
                    <a:pt x="-976" y="711702"/>
                    <a:pt x="-976" y="697404"/>
                  </a:cubicBezTo>
                  <a:cubicBezTo>
                    <a:pt x="-976" y="683106"/>
                    <a:pt x="10623" y="671516"/>
                    <a:pt x="24931" y="671516"/>
                  </a:cubicBezTo>
                  <a:cubicBezTo>
                    <a:pt x="39233" y="671509"/>
                    <a:pt x="50831" y="683088"/>
                    <a:pt x="50838" y="697379"/>
                  </a:cubicBezTo>
                  <a:cubicBezTo>
                    <a:pt x="50838" y="697387"/>
                    <a:pt x="50838" y="697395"/>
                    <a:pt x="50838" y="697404"/>
                  </a:cubicBezTo>
                  <a:close/>
                  <a:moveTo>
                    <a:pt x="269068" y="697404"/>
                  </a:moveTo>
                  <a:cubicBezTo>
                    <a:pt x="269068" y="711702"/>
                    <a:pt x="257469" y="723293"/>
                    <a:pt x="243160" y="723293"/>
                  </a:cubicBezTo>
                  <a:cubicBezTo>
                    <a:pt x="228853" y="723293"/>
                    <a:pt x="217253" y="711702"/>
                    <a:pt x="217253" y="697404"/>
                  </a:cubicBezTo>
                  <a:cubicBezTo>
                    <a:pt x="217253" y="683106"/>
                    <a:pt x="228853" y="671516"/>
                    <a:pt x="243160" y="671516"/>
                  </a:cubicBezTo>
                  <a:cubicBezTo>
                    <a:pt x="257461" y="671532"/>
                    <a:pt x="269051" y="683113"/>
                    <a:pt x="269068" y="697404"/>
                  </a:cubicBezTo>
                  <a:close/>
                  <a:moveTo>
                    <a:pt x="487237" y="697404"/>
                  </a:moveTo>
                  <a:cubicBezTo>
                    <a:pt x="487237" y="711702"/>
                    <a:pt x="475637" y="723293"/>
                    <a:pt x="461329" y="723293"/>
                  </a:cubicBezTo>
                  <a:cubicBezTo>
                    <a:pt x="447021" y="723293"/>
                    <a:pt x="435422" y="711702"/>
                    <a:pt x="435422" y="697404"/>
                  </a:cubicBezTo>
                  <a:cubicBezTo>
                    <a:pt x="435422" y="683106"/>
                    <a:pt x="447021" y="671516"/>
                    <a:pt x="461329" y="671516"/>
                  </a:cubicBezTo>
                  <a:cubicBezTo>
                    <a:pt x="475631" y="671509"/>
                    <a:pt x="487229" y="683088"/>
                    <a:pt x="487237" y="697379"/>
                  </a:cubicBezTo>
                  <a:cubicBezTo>
                    <a:pt x="487237" y="697387"/>
                    <a:pt x="487237" y="697395"/>
                    <a:pt x="487237" y="697404"/>
                  </a:cubicBezTo>
                  <a:close/>
                  <a:moveTo>
                    <a:pt x="705466" y="697404"/>
                  </a:moveTo>
                  <a:cubicBezTo>
                    <a:pt x="705466" y="711702"/>
                    <a:pt x="693867" y="723293"/>
                    <a:pt x="679559" y="723293"/>
                  </a:cubicBezTo>
                  <a:cubicBezTo>
                    <a:pt x="665250" y="723293"/>
                    <a:pt x="653652" y="711702"/>
                    <a:pt x="653652" y="697404"/>
                  </a:cubicBezTo>
                  <a:cubicBezTo>
                    <a:pt x="653652" y="683106"/>
                    <a:pt x="665250" y="671516"/>
                    <a:pt x="679559" y="671516"/>
                  </a:cubicBezTo>
                  <a:cubicBezTo>
                    <a:pt x="693861" y="671509"/>
                    <a:pt x="705458" y="683088"/>
                    <a:pt x="705466" y="697379"/>
                  </a:cubicBezTo>
                  <a:cubicBezTo>
                    <a:pt x="705466" y="697387"/>
                    <a:pt x="705466" y="697395"/>
                    <a:pt x="705466" y="697404"/>
                  </a:cubicBezTo>
                  <a:close/>
                  <a:moveTo>
                    <a:pt x="923695" y="697404"/>
                  </a:moveTo>
                  <a:cubicBezTo>
                    <a:pt x="923695" y="711702"/>
                    <a:pt x="912096" y="723293"/>
                    <a:pt x="897788" y="723293"/>
                  </a:cubicBezTo>
                  <a:cubicBezTo>
                    <a:pt x="883481" y="723293"/>
                    <a:pt x="871881" y="711702"/>
                    <a:pt x="871881" y="697404"/>
                  </a:cubicBezTo>
                  <a:cubicBezTo>
                    <a:pt x="871881" y="683106"/>
                    <a:pt x="883481" y="671516"/>
                    <a:pt x="897788" y="671516"/>
                  </a:cubicBezTo>
                  <a:cubicBezTo>
                    <a:pt x="912090" y="671509"/>
                    <a:pt x="923688" y="683088"/>
                    <a:pt x="923695" y="697379"/>
                  </a:cubicBezTo>
                  <a:cubicBezTo>
                    <a:pt x="923695" y="697387"/>
                    <a:pt x="923695" y="697395"/>
                    <a:pt x="923695" y="697404"/>
                  </a:cubicBezTo>
                  <a:close/>
                  <a:moveTo>
                    <a:pt x="1141923" y="697404"/>
                  </a:moveTo>
                  <a:cubicBezTo>
                    <a:pt x="1141923" y="711702"/>
                    <a:pt x="1130324" y="723293"/>
                    <a:pt x="1116016" y="723293"/>
                  </a:cubicBezTo>
                  <a:cubicBezTo>
                    <a:pt x="1101708" y="723293"/>
                    <a:pt x="1090109" y="711702"/>
                    <a:pt x="1090109" y="697404"/>
                  </a:cubicBezTo>
                  <a:cubicBezTo>
                    <a:pt x="1090109" y="683106"/>
                    <a:pt x="1101708" y="671516"/>
                    <a:pt x="1116016" y="671516"/>
                  </a:cubicBezTo>
                  <a:cubicBezTo>
                    <a:pt x="1130316" y="671532"/>
                    <a:pt x="1141907" y="683113"/>
                    <a:pt x="1141923" y="697404"/>
                  </a:cubicBezTo>
                  <a:close/>
                </a:path>
              </a:pathLst>
            </a:custGeom>
            <a:solidFill>
              <a:srgbClr val="015DBB"/>
            </a:solidFill>
          </p:spPr>
        </p:sp>
        <p:pic>
          <p:nvPicPr>
            <p:cNvPr id="19" name="Image 4" descr="https://kimi-img.moonshot.cn/pub/slides/slides_tmpl/image/25-09-08-12:55:57-d2v63ndnfo2stf9dk540.png"/>
            <p:cNvPicPr>
              <a:picLocks noChangeAspect="1"/>
            </p:cNvPicPr>
            <p:nvPr/>
          </p:nvPicPr>
          <p:blipFill>
            <a:blip r:embed="rId5"/>
            <a:srcRect t="22162"/>
            <a:stretch>
              <a:fillRect/>
            </a:stretch>
          </p:blipFill>
          <p:spPr>
            <a:xfrm>
              <a:off x="12610" y="6499"/>
              <a:ext cx="4303" cy="3350"/>
            </a:xfrm>
            <a:prstGeom prst="rect">
              <a:avLst/>
            </a:prstGeom>
          </p:spPr>
        </p:pic>
        <p:sp>
          <p:nvSpPr>
            <p:cNvPr id="21" name="Text 14"/>
            <p:cNvSpPr/>
            <p:nvPr/>
          </p:nvSpPr>
          <p:spPr>
            <a:xfrm>
              <a:off x="959" y="9128"/>
              <a:ext cx="1277" cy="871"/>
            </a:xfrm>
            <a:prstGeom prst="rect">
              <a:avLst/>
            </a:prstGeom>
            <a:noFill/>
          </p:spPr>
          <p:txBody>
            <a:bodyPr wrap="square" lIns="45720" tIns="91440" rIns="91440" bIns="45720" rtlCol="0" anchor="ctr"/>
            <a:lstStyle/>
            <a:p>
              <a:pPr marL="0" indent="0">
                <a:lnSpc>
                  <a:spcPct val="100000"/>
                </a:lnSpc>
                <a:buNone/>
              </a:pPr>
              <a:endParaRPr lang="en-US" sz="1600" dirty="0"/>
            </a:p>
          </p:txBody>
        </p:sp>
      </p:grpSp>
      <p:sp>
        <p:nvSpPr>
          <p:cNvPr id="4" name="Shape 0"/>
          <p:cNvSpPr/>
          <p:nvPr/>
        </p:nvSpPr>
        <p:spPr>
          <a:xfrm>
            <a:off x="1273810" y="643255"/>
            <a:ext cx="2698115" cy="11080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1"/>
          <p:cNvSpPr/>
          <p:nvPr/>
        </p:nvSpPr>
        <p:spPr>
          <a:xfrm>
            <a:off x="1273810" y="1604010"/>
            <a:ext cx="2698115" cy="840105"/>
          </a:xfrm>
          <a:prstGeom prst="rect">
            <a:avLst/>
          </a:prstGeom>
          <a:noFill/>
        </p:spPr>
        <p:txBody>
          <a:bodyPr wrap="square" lIns="46863" tIns="90043" rIns="90043" bIns="46863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chemeClr val="accent3"/>
                </a:solidFill>
              </a:rPr>
              <a:t>成员介绍</a:t>
            </a:r>
          </a:p>
        </p:txBody>
      </p:sp>
      <p:sp>
        <p:nvSpPr>
          <p:cNvPr id="6" name="Text 2"/>
          <p:cNvSpPr/>
          <p:nvPr/>
        </p:nvSpPr>
        <p:spPr>
          <a:xfrm>
            <a:off x="3312160" y="1017270"/>
            <a:ext cx="2884805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>
                    <a:alpha val="54902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787940" y="761329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608965" y="5796280"/>
            <a:ext cx="810895" cy="553085"/>
          </a:xfrm>
          <a:custGeom>
            <a:avLst/>
            <a:gdLst/>
            <a:ahLst/>
            <a:cxnLst/>
            <a:rect l="l" t="t" r="r" b="b"/>
            <a:pathLst>
              <a:path w="810895" h="553085">
                <a:moveTo>
                  <a:pt x="36101" y="19719"/>
                </a:moveTo>
                <a:cubicBezTo>
                  <a:pt x="36101" y="30652"/>
                  <a:pt x="27864" y="39516"/>
                  <a:pt x="17704" y="39516"/>
                </a:cubicBezTo>
                <a:cubicBezTo>
                  <a:pt x="7544" y="39516"/>
                  <a:pt x="-693" y="30652"/>
                  <a:pt x="-693" y="19719"/>
                </a:cubicBezTo>
                <a:cubicBezTo>
                  <a:pt x="-693" y="8786"/>
                  <a:pt x="7544" y="-77"/>
                  <a:pt x="17704" y="-77"/>
                </a:cubicBezTo>
                <a:cubicBezTo>
                  <a:pt x="27860" y="-83"/>
                  <a:pt x="36096" y="8773"/>
                  <a:pt x="36101" y="19700"/>
                </a:cubicBezTo>
                <a:cubicBezTo>
                  <a:pt x="36101" y="19707"/>
                  <a:pt x="36101" y="19713"/>
                  <a:pt x="36101" y="19719"/>
                </a:cubicBezTo>
                <a:close/>
                <a:moveTo>
                  <a:pt x="191068" y="19719"/>
                </a:moveTo>
                <a:cubicBezTo>
                  <a:pt x="191068" y="30652"/>
                  <a:pt x="182832" y="39516"/>
                  <a:pt x="172671" y="39516"/>
                </a:cubicBezTo>
                <a:cubicBezTo>
                  <a:pt x="162512" y="39516"/>
                  <a:pt x="154275" y="30652"/>
                  <a:pt x="154275" y="19719"/>
                </a:cubicBezTo>
                <a:cubicBezTo>
                  <a:pt x="154275" y="8786"/>
                  <a:pt x="162512" y="-77"/>
                  <a:pt x="172671" y="-77"/>
                </a:cubicBezTo>
                <a:cubicBezTo>
                  <a:pt x="182826" y="-64"/>
                  <a:pt x="191057" y="8791"/>
                  <a:pt x="191068" y="19719"/>
                </a:cubicBezTo>
                <a:close/>
                <a:moveTo>
                  <a:pt x="345993" y="19719"/>
                </a:moveTo>
                <a:cubicBezTo>
                  <a:pt x="345993" y="30652"/>
                  <a:pt x="337756" y="39516"/>
                  <a:pt x="327596" y="39516"/>
                </a:cubicBezTo>
                <a:cubicBezTo>
                  <a:pt x="317436" y="39516"/>
                  <a:pt x="309199" y="30652"/>
                  <a:pt x="309199" y="19719"/>
                </a:cubicBezTo>
                <a:cubicBezTo>
                  <a:pt x="309199" y="8786"/>
                  <a:pt x="317436" y="-77"/>
                  <a:pt x="327596" y="-77"/>
                </a:cubicBezTo>
                <a:cubicBezTo>
                  <a:pt x="337752" y="-83"/>
                  <a:pt x="345988" y="8773"/>
                  <a:pt x="345993" y="19700"/>
                </a:cubicBezTo>
                <a:cubicBezTo>
                  <a:pt x="345993" y="19707"/>
                  <a:pt x="345993" y="19713"/>
                  <a:pt x="345993" y="19719"/>
                </a:cubicBezTo>
                <a:close/>
                <a:moveTo>
                  <a:pt x="500961" y="19719"/>
                </a:moveTo>
                <a:cubicBezTo>
                  <a:pt x="500961" y="30652"/>
                  <a:pt x="492724" y="39516"/>
                  <a:pt x="482564" y="39516"/>
                </a:cubicBezTo>
                <a:cubicBezTo>
                  <a:pt x="472403" y="39516"/>
                  <a:pt x="464167" y="30652"/>
                  <a:pt x="464167" y="19719"/>
                </a:cubicBezTo>
                <a:cubicBezTo>
                  <a:pt x="464167" y="8786"/>
                  <a:pt x="472403" y="-77"/>
                  <a:pt x="482564" y="-77"/>
                </a:cubicBezTo>
                <a:cubicBezTo>
                  <a:pt x="492720" y="-83"/>
                  <a:pt x="500955" y="8773"/>
                  <a:pt x="500961" y="19700"/>
                </a:cubicBezTo>
                <a:cubicBezTo>
                  <a:pt x="500961" y="19707"/>
                  <a:pt x="500961" y="19713"/>
                  <a:pt x="500961" y="19719"/>
                </a:cubicBezTo>
                <a:close/>
                <a:moveTo>
                  <a:pt x="655928" y="19719"/>
                </a:moveTo>
                <a:cubicBezTo>
                  <a:pt x="655928" y="30652"/>
                  <a:pt x="647692" y="39516"/>
                  <a:pt x="637531" y="39516"/>
                </a:cubicBezTo>
                <a:cubicBezTo>
                  <a:pt x="627372" y="39516"/>
                  <a:pt x="619134" y="30652"/>
                  <a:pt x="619134" y="19719"/>
                </a:cubicBezTo>
                <a:cubicBezTo>
                  <a:pt x="619134" y="8786"/>
                  <a:pt x="627372" y="-77"/>
                  <a:pt x="637531" y="-77"/>
                </a:cubicBezTo>
                <a:cubicBezTo>
                  <a:pt x="647687" y="-83"/>
                  <a:pt x="655923" y="8773"/>
                  <a:pt x="655928" y="19700"/>
                </a:cubicBezTo>
                <a:cubicBezTo>
                  <a:pt x="655928" y="19707"/>
                  <a:pt x="655928" y="19713"/>
                  <a:pt x="655928" y="19719"/>
                </a:cubicBezTo>
                <a:close/>
                <a:moveTo>
                  <a:pt x="810895" y="19719"/>
                </a:moveTo>
                <a:cubicBezTo>
                  <a:pt x="810895" y="30652"/>
                  <a:pt x="802658" y="39516"/>
                  <a:pt x="792498" y="39516"/>
                </a:cubicBezTo>
                <a:cubicBezTo>
                  <a:pt x="782338" y="39516"/>
                  <a:pt x="774101" y="30652"/>
                  <a:pt x="774101" y="19719"/>
                </a:cubicBezTo>
                <a:cubicBezTo>
                  <a:pt x="774101" y="8786"/>
                  <a:pt x="782338" y="-77"/>
                  <a:pt x="792498" y="-77"/>
                </a:cubicBezTo>
                <a:cubicBezTo>
                  <a:pt x="802653" y="-64"/>
                  <a:pt x="810884" y="8791"/>
                  <a:pt x="810895" y="19719"/>
                </a:cubicBezTo>
                <a:close/>
                <a:moveTo>
                  <a:pt x="36101" y="148112"/>
                </a:moveTo>
                <a:cubicBezTo>
                  <a:pt x="36101" y="159045"/>
                  <a:pt x="27864" y="167908"/>
                  <a:pt x="17704" y="167908"/>
                </a:cubicBezTo>
                <a:cubicBezTo>
                  <a:pt x="7544" y="167908"/>
                  <a:pt x="-693" y="159045"/>
                  <a:pt x="-693" y="148112"/>
                </a:cubicBezTo>
                <a:cubicBezTo>
                  <a:pt x="-693" y="137178"/>
                  <a:pt x="7544" y="128315"/>
                  <a:pt x="17704" y="128315"/>
                </a:cubicBezTo>
                <a:cubicBezTo>
                  <a:pt x="27860" y="128310"/>
                  <a:pt x="36096" y="137165"/>
                  <a:pt x="36101" y="148093"/>
                </a:cubicBezTo>
                <a:cubicBezTo>
                  <a:pt x="36101" y="148099"/>
                  <a:pt x="36101" y="148105"/>
                  <a:pt x="36101" y="148112"/>
                </a:cubicBezTo>
                <a:close/>
                <a:moveTo>
                  <a:pt x="191068" y="148112"/>
                </a:moveTo>
                <a:cubicBezTo>
                  <a:pt x="191068" y="159045"/>
                  <a:pt x="182832" y="167908"/>
                  <a:pt x="172671" y="167908"/>
                </a:cubicBezTo>
                <a:cubicBezTo>
                  <a:pt x="162512" y="167908"/>
                  <a:pt x="154275" y="159045"/>
                  <a:pt x="154275" y="148112"/>
                </a:cubicBezTo>
                <a:cubicBezTo>
                  <a:pt x="154275" y="137178"/>
                  <a:pt x="162512" y="128315"/>
                  <a:pt x="172671" y="128315"/>
                </a:cubicBezTo>
                <a:cubicBezTo>
                  <a:pt x="182826" y="128328"/>
                  <a:pt x="191057" y="137184"/>
                  <a:pt x="191068" y="148112"/>
                </a:cubicBezTo>
                <a:close/>
                <a:moveTo>
                  <a:pt x="345993" y="148112"/>
                </a:moveTo>
                <a:cubicBezTo>
                  <a:pt x="345993" y="159045"/>
                  <a:pt x="337756" y="167908"/>
                  <a:pt x="327596" y="167908"/>
                </a:cubicBezTo>
                <a:cubicBezTo>
                  <a:pt x="317436" y="167908"/>
                  <a:pt x="309199" y="159045"/>
                  <a:pt x="309199" y="148112"/>
                </a:cubicBezTo>
                <a:cubicBezTo>
                  <a:pt x="309199" y="137178"/>
                  <a:pt x="317436" y="128315"/>
                  <a:pt x="327596" y="128315"/>
                </a:cubicBezTo>
                <a:cubicBezTo>
                  <a:pt x="337752" y="128310"/>
                  <a:pt x="345988" y="137165"/>
                  <a:pt x="345993" y="148093"/>
                </a:cubicBezTo>
                <a:cubicBezTo>
                  <a:pt x="345993" y="148099"/>
                  <a:pt x="345993" y="148105"/>
                  <a:pt x="345993" y="148112"/>
                </a:cubicBezTo>
                <a:close/>
                <a:moveTo>
                  <a:pt x="500961" y="148112"/>
                </a:moveTo>
                <a:cubicBezTo>
                  <a:pt x="500961" y="159045"/>
                  <a:pt x="492724" y="167908"/>
                  <a:pt x="482564" y="167908"/>
                </a:cubicBezTo>
                <a:cubicBezTo>
                  <a:pt x="472403" y="167908"/>
                  <a:pt x="464167" y="159045"/>
                  <a:pt x="464167" y="148112"/>
                </a:cubicBezTo>
                <a:cubicBezTo>
                  <a:pt x="464167" y="137178"/>
                  <a:pt x="472403" y="128315"/>
                  <a:pt x="482564" y="128315"/>
                </a:cubicBezTo>
                <a:cubicBezTo>
                  <a:pt x="492720" y="128310"/>
                  <a:pt x="500955" y="137165"/>
                  <a:pt x="500961" y="148093"/>
                </a:cubicBezTo>
                <a:cubicBezTo>
                  <a:pt x="500961" y="148099"/>
                  <a:pt x="500961" y="148105"/>
                  <a:pt x="500961" y="148112"/>
                </a:cubicBezTo>
                <a:close/>
                <a:moveTo>
                  <a:pt x="655928" y="148112"/>
                </a:moveTo>
                <a:cubicBezTo>
                  <a:pt x="655928" y="159045"/>
                  <a:pt x="647692" y="167908"/>
                  <a:pt x="637531" y="167908"/>
                </a:cubicBezTo>
                <a:cubicBezTo>
                  <a:pt x="627372" y="167908"/>
                  <a:pt x="619134" y="159045"/>
                  <a:pt x="619134" y="148112"/>
                </a:cubicBezTo>
                <a:cubicBezTo>
                  <a:pt x="619134" y="137178"/>
                  <a:pt x="627372" y="128315"/>
                  <a:pt x="637531" y="128315"/>
                </a:cubicBezTo>
                <a:cubicBezTo>
                  <a:pt x="647687" y="128310"/>
                  <a:pt x="655923" y="137165"/>
                  <a:pt x="655928" y="148093"/>
                </a:cubicBezTo>
                <a:cubicBezTo>
                  <a:pt x="655928" y="148099"/>
                  <a:pt x="655928" y="148105"/>
                  <a:pt x="655928" y="148112"/>
                </a:cubicBezTo>
                <a:close/>
                <a:moveTo>
                  <a:pt x="810895" y="148112"/>
                </a:moveTo>
                <a:cubicBezTo>
                  <a:pt x="810895" y="159045"/>
                  <a:pt x="802658" y="167908"/>
                  <a:pt x="792498" y="167908"/>
                </a:cubicBezTo>
                <a:cubicBezTo>
                  <a:pt x="782338" y="167908"/>
                  <a:pt x="774101" y="159045"/>
                  <a:pt x="774101" y="148112"/>
                </a:cubicBezTo>
                <a:cubicBezTo>
                  <a:pt x="774101" y="137178"/>
                  <a:pt x="782338" y="128315"/>
                  <a:pt x="792498" y="128315"/>
                </a:cubicBezTo>
                <a:cubicBezTo>
                  <a:pt x="802653" y="128328"/>
                  <a:pt x="810884" y="137184"/>
                  <a:pt x="810895" y="148112"/>
                </a:cubicBezTo>
                <a:close/>
                <a:moveTo>
                  <a:pt x="36101" y="276504"/>
                </a:moveTo>
                <a:cubicBezTo>
                  <a:pt x="36101" y="287437"/>
                  <a:pt x="27864" y="296300"/>
                  <a:pt x="17704" y="296300"/>
                </a:cubicBezTo>
                <a:cubicBezTo>
                  <a:pt x="7544" y="296300"/>
                  <a:pt x="-693" y="287437"/>
                  <a:pt x="-693" y="276504"/>
                </a:cubicBezTo>
                <a:cubicBezTo>
                  <a:pt x="-693" y="265571"/>
                  <a:pt x="7544" y="256707"/>
                  <a:pt x="17704" y="256707"/>
                </a:cubicBezTo>
                <a:cubicBezTo>
                  <a:pt x="27860" y="256702"/>
                  <a:pt x="36096" y="265557"/>
                  <a:pt x="36101" y="276485"/>
                </a:cubicBezTo>
                <a:cubicBezTo>
                  <a:pt x="36101" y="276491"/>
                  <a:pt x="36101" y="276498"/>
                  <a:pt x="36101" y="276504"/>
                </a:cubicBezTo>
                <a:close/>
                <a:moveTo>
                  <a:pt x="191068" y="276504"/>
                </a:moveTo>
                <a:cubicBezTo>
                  <a:pt x="191068" y="287437"/>
                  <a:pt x="182832" y="296300"/>
                  <a:pt x="172671" y="296300"/>
                </a:cubicBezTo>
                <a:cubicBezTo>
                  <a:pt x="162512" y="296300"/>
                  <a:pt x="154275" y="287437"/>
                  <a:pt x="154275" y="276504"/>
                </a:cubicBezTo>
                <a:cubicBezTo>
                  <a:pt x="154275" y="265571"/>
                  <a:pt x="162512" y="256707"/>
                  <a:pt x="172671" y="256707"/>
                </a:cubicBezTo>
                <a:cubicBezTo>
                  <a:pt x="182826" y="256720"/>
                  <a:pt x="191057" y="265576"/>
                  <a:pt x="191068" y="276504"/>
                </a:cubicBezTo>
                <a:close/>
                <a:moveTo>
                  <a:pt x="345993" y="276504"/>
                </a:moveTo>
                <a:cubicBezTo>
                  <a:pt x="345993" y="287437"/>
                  <a:pt x="337756" y="296300"/>
                  <a:pt x="327596" y="296300"/>
                </a:cubicBezTo>
                <a:cubicBezTo>
                  <a:pt x="317436" y="296300"/>
                  <a:pt x="309199" y="287437"/>
                  <a:pt x="309199" y="276504"/>
                </a:cubicBezTo>
                <a:cubicBezTo>
                  <a:pt x="309199" y="265571"/>
                  <a:pt x="317436" y="256707"/>
                  <a:pt x="327596" y="256707"/>
                </a:cubicBezTo>
                <a:cubicBezTo>
                  <a:pt x="337752" y="256702"/>
                  <a:pt x="345988" y="265557"/>
                  <a:pt x="345993" y="276485"/>
                </a:cubicBezTo>
                <a:cubicBezTo>
                  <a:pt x="345993" y="276491"/>
                  <a:pt x="345993" y="276498"/>
                  <a:pt x="345993" y="276504"/>
                </a:cubicBezTo>
                <a:close/>
                <a:moveTo>
                  <a:pt x="500961" y="276504"/>
                </a:moveTo>
                <a:cubicBezTo>
                  <a:pt x="500961" y="287437"/>
                  <a:pt x="492724" y="296300"/>
                  <a:pt x="482564" y="296300"/>
                </a:cubicBezTo>
                <a:cubicBezTo>
                  <a:pt x="472403" y="296300"/>
                  <a:pt x="464167" y="287437"/>
                  <a:pt x="464167" y="276504"/>
                </a:cubicBezTo>
                <a:cubicBezTo>
                  <a:pt x="464167" y="265571"/>
                  <a:pt x="472403" y="256707"/>
                  <a:pt x="482564" y="256707"/>
                </a:cubicBezTo>
                <a:cubicBezTo>
                  <a:pt x="492720" y="256702"/>
                  <a:pt x="500955" y="265557"/>
                  <a:pt x="500961" y="276485"/>
                </a:cubicBezTo>
                <a:cubicBezTo>
                  <a:pt x="500961" y="276491"/>
                  <a:pt x="500961" y="276498"/>
                  <a:pt x="500961" y="276504"/>
                </a:cubicBezTo>
                <a:close/>
                <a:moveTo>
                  <a:pt x="655928" y="276504"/>
                </a:moveTo>
                <a:cubicBezTo>
                  <a:pt x="655928" y="287437"/>
                  <a:pt x="647692" y="296300"/>
                  <a:pt x="637531" y="296300"/>
                </a:cubicBezTo>
                <a:cubicBezTo>
                  <a:pt x="627372" y="296300"/>
                  <a:pt x="619134" y="287437"/>
                  <a:pt x="619134" y="276504"/>
                </a:cubicBezTo>
                <a:cubicBezTo>
                  <a:pt x="619134" y="265571"/>
                  <a:pt x="627372" y="256707"/>
                  <a:pt x="637531" y="256707"/>
                </a:cubicBezTo>
                <a:cubicBezTo>
                  <a:pt x="647687" y="256702"/>
                  <a:pt x="655923" y="265557"/>
                  <a:pt x="655928" y="276485"/>
                </a:cubicBezTo>
                <a:cubicBezTo>
                  <a:pt x="655928" y="276491"/>
                  <a:pt x="655928" y="276498"/>
                  <a:pt x="655928" y="276504"/>
                </a:cubicBezTo>
                <a:close/>
                <a:moveTo>
                  <a:pt x="810895" y="276504"/>
                </a:moveTo>
                <a:cubicBezTo>
                  <a:pt x="810895" y="287437"/>
                  <a:pt x="802658" y="296300"/>
                  <a:pt x="792498" y="296300"/>
                </a:cubicBezTo>
                <a:cubicBezTo>
                  <a:pt x="782338" y="296300"/>
                  <a:pt x="774101" y="287437"/>
                  <a:pt x="774101" y="276504"/>
                </a:cubicBezTo>
                <a:cubicBezTo>
                  <a:pt x="774101" y="265571"/>
                  <a:pt x="782338" y="256707"/>
                  <a:pt x="792498" y="256707"/>
                </a:cubicBezTo>
                <a:cubicBezTo>
                  <a:pt x="802653" y="256720"/>
                  <a:pt x="810884" y="265576"/>
                  <a:pt x="810895" y="276504"/>
                </a:cubicBezTo>
                <a:close/>
                <a:moveTo>
                  <a:pt x="36101" y="404896"/>
                </a:moveTo>
                <a:cubicBezTo>
                  <a:pt x="36101" y="415830"/>
                  <a:pt x="27864" y="424693"/>
                  <a:pt x="17704" y="424693"/>
                </a:cubicBezTo>
                <a:cubicBezTo>
                  <a:pt x="7544" y="424693"/>
                  <a:pt x="-693" y="415830"/>
                  <a:pt x="-693" y="404896"/>
                </a:cubicBezTo>
                <a:cubicBezTo>
                  <a:pt x="-693" y="393963"/>
                  <a:pt x="7544" y="385100"/>
                  <a:pt x="17704" y="385100"/>
                </a:cubicBezTo>
                <a:cubicBezTo>
                  <a:pt x="27860" y="385095"/>
                  <a:pt x="36096" y="393949"/>
                  <a:pt x="36101" y="404877"/>
                </a:cubicBezTo>
                <a:cubicBezTo>
                  <a:pt x="36101" y="404884"/>
                  <a:pt x="36101" y="404890"/>
                  <a:pt x="36101" y="404896"/>
                </a:cubicBezTo>
                <a:close/>
                <a:moveTo>
                  <a:pt x="191068" y="404896"/>
                </a:moveTo>
                <a:cubicBezTo>
                  <a:pt x="191068" y="415830"/>
                  <a:pt x="182832" y="424693"/>
                  <a:pt x="172671" y="424693"/>
                </a:cubicBezTo>
                <a:cubicBezTo>
                  <a:pt x="162512" y="424693"/>
                  <a:pt x="154275" y="415830"/>
                  <a:pt x="154275" y="404896"/>
                </a:cubicBezTo>
                <a:cubicBezTo>
                  <a:pt x="154275" y="393963"/>
                  <a:pt x="162512" y="385100"/>
                  <a:pt x="172671" y="385100"/>
                </a:cubicBezTo>
                <a:cubicBezTo>
                  <a:pt x="182826" y="385113"/>
                  <a:pt x="191057" y="393968"/>
                  <a:pt x="191068" y="404896"/>
                </a:cubicBezTo>
                <a:close/>
                <a:moveTo>
                  <a:pt x="345993" y="404896"/>
                </a:moveTo>
                <a:cubicBezTo>
                  <a:pt x="345993" y="415830"/>
                  <a:pt x="337756" y="424693"/>
                  <a:pt x="327596" y="424693"/>
                </a:cubicBezTo>
                <a:cubicBezTo>
                  <a:pt x="317436" y="424693"/>
                  <a:pt x="309199" y="415830"/>
                  <a:pt x="309199" y="404896"/>
                </a:cubicBezTo>
                <a:cubicBezTo>
                  <a:pt x="309199" y="393963"/>
                  <a:pt x="317436" y="385100"/>
                  <a:pt x="327596" y="385100"/>
                </a:cubicBezTo>
                <a:cubicBezTo>
                  <a:pt x="337752" y="385095"/>
                  <a:pt x="345988" y="393949"/>
                  <a:pt x="345993" y="404877"/>
                </a:cubicBezTo>
                <a:cubicBezTo>
                  <a:pt x="345993" y="404884"/>
                  <a:pt x="345993" y="404890"/>
                  <a:pt x="345993" y="404896"/>
                </a:cubicBezTo>
                <a:close/>
                <a:moveTo>
                  <a:pt x="500961" y="404896"/>
                </a:moveTo>
                <a:cubicBezTo>
                  <a:pt x="500961" y="415830"/>
                  <a:pt x="492724" y="424693"/>
                  <a:pt x="482564" y="424693"/>
                </a:cubicBezTo>
                <a:cubicBezTo>
                  <a:pt x="472403" y="424693"/>
                  <a:pt x="464167" y="415830"/>
                  <a:pt x="464167" y="404896"/>
                </a:cubicBezTo>
                <a:cubicBezTo>
                  <a:pt x="464167" y="393963"/>
                  <a:pt x="472403" y="385100"/>
                  <a:pt x="482564" y="385100"/>
                </a:cubicBezTo>
                <a:cubicBezTo>
                  <a:pt x="492720" y="385095"/>
                  <a:pt x="500955" y="393949"/>
                  <a:pt x="500961" y="404877"/>
                </a:cubicBezTo>
                <a:cubicBezTo>
                  <a:pt x="500961" y="404884"/>
                  <a:pt x="500961" y="404890"/>
                  <a:pt x="500961" y="404896"/>
                </a:cubicBezTo>
                <a:close/>
                <a:moveTo>
                  <a:pt x="655928" y="404896"/>
                </a:moveTo>
                <a:cubicBezTo>
                  <a:pt x="655928" y="415830"/>
                  <a:pt x="647692" y="424693"/>
                  <a:pt x="637531" y="424693"/>
                </a:cubicBezTo>
                <a:cubicBezTo>
                  <a:pt x="627372" y="424693"/>
                  <a:pt x="619134" y="415830"/>
                  <a:pt x="619134" y="404896"/>
                </a:cubicBezTo>
                <a:cubicBezTo>
                  <a:pt x="619134" y="393963"/>
                  <a:pt x="627372" y="385100"/>
                  <a:pt x="637531" y="385100"/>
                </a:cubicBezTo>
                <a:cubicBezTo>
                  <a:pt x="647687" y="385095"/>
                  <a:pt x="655923" y="393949"/>
                  <a:pt x="655928" y="404877"/>
                </a:cubicBezTo>
                <a:cubicBezTo>
                  <a:pt x="655928" y="404884"/>
                  <a:pt x="655928" y="404890"/>
                  <a:pt x="655928" y="404896"/>
                </a:cubicBezTo>
                <a:close/>
                <a:moveTo>
                  <a:pt x="810895" y="404896"/>
                </a:moveTo>
                <a:cubicBezTo>
                  <a:pt x="810895" y="415830"/>
                  <a:pt x="802658" y="424693"/>
                  <a:pt x="792498" y="424693"/>
                </a:cubicBezTo>
                <a:cubicBezTo>
                  <a:pt x="782338" y="424693"/>
                  <a:pt x="774101" y="415830"/>
                  <a:pt x="774101" y="404896"/>
                </a:cubicBezTo>
                <a:cubicBezTo>
                  <a:pt x="774101" y="393963"/>
                  <a:pt x="782338" y="385100"/>
                  <a:pt x="792498" y="385100"/>
                </a:cubicBezTo>
                <a:cubicBezTo>
                  <a:pt x="802653" y="385113"/>
                  <a:pt x="810884" y="393968"/>
                  <a:pt x="810895" y="404896"/>
                </a:cubicBezTo>
                <a:close/>
                <a:moveTo>
                  <a:pt x="36101" y="533289"/>
                </a:moveTo>
                <a:cubicBezTo>
                  <a:pt x="36101" y="544222"/>
                  <a:pt x="27864" y="553085"/>
                  <a:pt x="17704" y="553085"/>
                </a:cubicBezTo>
                <a:cubicBezTo>
                  <a:pt x="7544" y="553085"/>
                  <a:pt x="-693" y="544222"/>
                  <a:pt x="-693" y="533289"/>
                </a:cubicBezTo>
                <a:cubicBezTo>
                  <a:pt x="-693" y="522355"/>
                  <a:pt x="7544" y="513492"/>
                  <a:pt x="17704" y="513492"/>
                </a:cubicBezTo>
                <a:cubicBezTo>
                  <a:pt x="27860" y="513487"/>
                  <a:pt x="36096" y="522342"/>
                  <a:pt x="36101" y="533269"/>
                </a:cubicBezTo>
                <a:cubicBezTo>
                  <a:pt x="36101" y="533276"/>
                  <a:pt x="36101" y="533282"/>
                  <a:pt x="36101" y="533289"/>
                </a:cubicBezTo>
                <a:close/>
                <a:moveTo>
                  <a:pt x="191068" y="533289"/>
                </a:moveTo>
                <a:cubicBezTo>
                  <a:pt x="191068" y="544222"/>
                  <a:pt x="182832" y="553085"/>
                  <a:pt x="172671" y="553085"/>
                </a:cubicBezTo>
                <a:cubicBezTo>
                  <a:pt x="162512" y="553085"/>
                  <a:pt x="154275" y="544222"/>
                  <a:pt x="154275" y="533289"/>
                </a:cubicBezTo>
                <a:cubicBezTo>
                  <a:pt x="154275" y="522355"/>
                  <a:pt x="162512" y="513492"/>
                  <a:pt x="172671" y="513492"/>
                </a:cubicBezTo>
                <a:cubicBezTo>
                  <a:pt x="182826" y="513504"/>
                  <a:pt x="191057" y="522361"/>
                  <a:pt x="191068" y="533289"/>
                </a:cubicBezTo>
                <a:close/>
                <a:moveTo>
                  <a:pt x="345993" y="533289"/>
                </a:moveTo>
                <a:cubicBezTo>
                  <a:pt x="345993" y="544222"/>
                  <a:pt x="337756" y="553085"/>
                  <a:pt x="327596" y="553085"/>
                </a:cubicBezTo>
                <a:cubicBezTo>
                  <a:pt x="317436" y="553085"/>
                  <a:pt x="309199" y="544222"/>
                  <a:pt x="309199" y="533289"/>
                </a:cubicBezTo>
                <a:cubicBezTo>
                  <a:pt x="309199" y="522355"/>
                  <a:pt x="317436" y="513492"/>
                  <a:pt x="327596" y="513492"/>
                </a:cubicBezTo>
                <a:cubicBezTo>
                  <a:pt x="337752" y="513487"/>
                  <a:pt x="345988" y="522342"/>
                  <a:pt x="345993" y="533269"/>
                </a:cubicBezTo>
                <a:cubicBezTo>
                  <a:pt x="345993" y="533276"/>
                  <a:pt x="345993" y="533282"/>
                  <a:pt x="345993" y="533289"/>
                </a:cubicBezTo>
                <a:close/>
                <a:moveTo>
                  <a:pt x="500961" y="533289"/>
                </a:moveTo>
                <a:cubicBezTo>
                  <a:pt x="500961" y="544222"/>
                  <a:pt x="492724" y="553085"/>
                  <a:pt x="482564" y="553085"/>
                </a:cubicBezTo>
                <a:cubicBezTo>
                  <a:pt x="472403" y="553085"/>
                  <a:pt x="464167" y="544222"/>
                  <a:pt x="464167" y="533289"/>
                </a:cubicBezTo>
                <a:cubicBezTo>
                  <a:pt x="464167" y="522355"/>
                  <a:pt x="472403" y="513492"/>
                  <a:pt x="482564" y="513492"/>
                </a:cubicBezTo>
                <a:cubicBezTo>
                  <a:pt x="492720" y="513487"/>
                  <a:pt x="500955" y="522342"/>
                  <a:pt x="500961" y="533269"/>
                </a:cubicBezTo>
                <a:cubicBezTo>
                  <a:pt x="500961" y="533276"/>
                  <a:pt x="500961" y="533282"/>
                  <a:pt x="500961" y="533289"/>
                </a:cubicBezTo>
                <a:close/>
                <a:moveTo>
                  <a:pt x="655928" y="533289"/>
                </a:moveTo>
                <a:cubicBezTo>
                  <a:pt x="655928" y="544222"/>
                  <a:pt x="647692" y="553085"/>
                  <a:pt x="637531" y="553085"/>
                </a:cubicBezTo>
                <a:cubicBezTo>
                  <a:pt x="627372" y="553085"/>
                  <a:pt x="619134" y="544222"/>
                  <a:pt x="619134" y="533289"/>
                </a:cubicBezTo>
                <a:cubicBezTo>
                  <a:pt x="619134" y="522355"/>
                  <a:pt x="627372" y="513492"/>
                  <a:pt x="637531" y="513492"/>
                </a:cubicBezTo>
                <a:cubicBezTo>
                  <a:pt x="647687" y="513487"/>
                  <a:pt x="655923" y="522342"/>
                  <a:pt x="655928" y="533269"/>
                </a:cubicBezTo>
                <a:cubicBezTo>
                  <a:pt x="655928" y="533276"/>
                  <a:pt x="655928" y="533282"/>
                  <a:pt x="655928" y="533289"/>
                </a:cubicBezTo>
                <a:close/>
                <a:moveTo>
                  <a:pt x="810895" y="533289"/>
                </a:moveTo>
                <a:cubicBezTo>
                  <a:pt x="810895" y="544222"/>
                  <a:pt x="802658" y="553085"/>
                  <a:pt x="792498" y="553085"/>
                </a:cubicBezTo>
                <a:cubicBezTo>
                  <a:pt x="782338" y="553085"/>
                  <a:pt x="774101" y="544222"/>
                  <a:pt x="774101" y="533289"/>
                </a:cubicBezTo>
                <a:cubicBezTo>
                  <a:pt x="774101" y="522355"/>
                  <a:pt x="782338" y="513492"/>
                  <a:pt x="792498" y="513492"/>
                </a:cubicBezTo>
                <a:cubicBezTo>
                  <a:pt x="802653" y="513504"/>
                  <a:pt x="810884" y="522361"/>
                  <a:pt x="810895" y="533289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2" name="文本框 1"/>
          <p:cNvSpPr txBox="1"/>
          <p:nvPr/>
        </p:nvSpPr>
        <p:spPr>
          <a:xfrm>
            <a:off x="1104674" y="2450291"/>
            <a:ext cx="1682367" cy="12965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王瑞祥：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38516" y="2444115"/>
            <a:ext cx="174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秦昱昱：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33156" y="2450291"/>
            <a:ext cx="265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刘研：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91847" y="4402899"/>
            <a:ext cx="2260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柴梁琪：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373666" y="4402899"/>
            <a:ext cx="2167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赵鹏宇：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4975" y="2407406"/>
            <a:ext cx="1415265" cy="188702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3063" y="4402899"/>
            <a:ext cx="1612129" cy="2256981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1362" y="2444115"/>
            <a:ext cx="1358148" cy="1847589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5801" y="2457824"/>
            <a:ext cx="1312591" cy="1836603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5105" y="4480081"/>
            <a:ext cx="1330754" cy="22646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32163" y="3239770"/>
            <a:ext cx="595693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</a:t>
            </a: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介绍</a:t>
            </a:r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3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0" y="779780"/>
            <a:ext cx="12192000" cy="6077585"/>
            <a:chOff x="0" y="1228"/>
            <a:chExt cx="19200" cy="9571"/>
          </a:xfrm>
        </p:grpSpPr>
        <p:pic>
          <p:nvPicPr>
            <p:cNvPr id="2" name="Image 0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7339"/>
              <a:ext cx="19201" cy="3461"/>
            </a:xfrm>
            <a:prstGeom prst="rect">
              <a:avLst/>
            </a:prstGeom>
          </p:spPr>
        </p:pic>
        <p:pic>
          <p:nvPicPr>
            <p:cNvPr id="6" name="Image 2" descr="https://kimi-img.moonshot.cn/pub/slides/slides_tmpl/image/25-09-08-12:55:57-d2v63ndnfo2stf9dk540.png"/>
            <p:cNvPicPr>
              <a:picLocks noChangeAspect="1"/>
            </p:cNvPicPr>
            <p:nvPr/>
          </p:nvPicPr>
          <p:blipFill>
            <a:blip r:embed="rId5"/>
            <a:srcRect t="22162"/>
            <a:stretch>
              <a:fillRect/>
            </a:stretch>
          </p:blipFill>
          <p:spPr>
            <a:xfrm>
              <a:off x="840" y="1877"/>
              <a:ext cx="5359" cy="4172"/>
            </a:xfrm>
            <a:prstGeom prst="rect">
              <a:avLst/>
            </a:prstGeom>
          </p:spPr>
        </p:pic>
        <p:pic>
          <p:nvPicPr>
            <p:cNvPr id="7" name="Image 3" descr="https://kimi-img.moonshot.cn/pub/slides/slides_tmpl/image/25-09-08-12:55:57-d2v63ndnfo2stf9dk540.png"/>
            <p:cNvPicPr>
              <a:picLocks noChangeAspect="1"/>
            </p:cNvPicPr>
            <p:nvPr/>
          </p:nvPicPr>
          <p:blipFill>
            <a:blip r:embed="rId5">
              <a:alphaModFix amt="30000"/>
            </a:blip>
            <a:srcRect t="22162"/>
            <a:stretch>
              <a:fillRect/>
            </a:stretch>
          </p:blipFill>
          <p:spPr>
            <a:xfrm flipH="1">
              <a:off x="13514" y="1228"/>
              <a:ext cx="5359" cy="41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2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3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28" name="文本框 27"/>
          <p:cNvSpPr txBox="1"/>
          <p:nvPr/>
        </p:nvSpPr>
        <p:spPr>
          <a:xfrm>
            <a:off x="906145" y="429895"/>
            <a:ext cx="2985770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>
                <a:solidFill>
                  <a:schemeClr val="accent3"/>
                </a:solidFill>
              </a:rPr>
              <a:t>项目介绍</a:t>
            </a:r>
          </a:p>
        </p:txBody>
      </p:sp>
      <p:sp>
        <p:nvSpPr>
          <p:cNvPr id="29" name="矩形 28"/>
          <p:cNvSpPr/>
          <p:nvPr/>
        </p:nvSpPr>
        <p:spPr>
          <a:xfrm>
            <a:off x="1082040" y="1386840"/>
            <a:ext cx="10029190" cy="44462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703070" y="1682263"/>
            <a:ext cx="8785860" cy="3591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600" b="1" dirty="0"/>
              <a:t>数据采集</a:t>
            </a:r>
          </a:p>
          <a:p>
            <a:r>
              <a:rPr lang="zh-CN" altLang="en-US" dirty="0"/>
              <a:t>                 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zh-CN" altLang="en-US" dirty="0"/>
              <a:t>使用</a:t>
            </a:r>
            <a:r>
              <a:rPr lang="en-US" altLang="zh-CN" dirty="0"/>
              <a:t>test.py</a:t>
            </a:r>
            <a:r>
              <a:rPr lang="zh-CN" altLang="en-US" dirty="0"/>
              <a:t>代码实现对房天下列表页以及详情页的数据爬取及存储。</a:t>
            </a:r>
          </a:p>
          <a:p>
            <a:pPr algn="l">
              <a:buClrTx/>
              <a:buSzTx/>
              <a:buFontTx/>
            </a:pPr>
            <a:endParaRPr lang="zh-CN" altLang="en-US" sz="2600" b="1" dirty="0"/>
          </a:p>
          <a:p>
            <a:pPr algn="l">
              <a:buClrTx/>
              <a:buSzTx/>
              <a:buFontTx/>
            </a:pPr>
            <a:r>
              <a:rPr lang="zh-CN" altLang="en-US" sz="2600" b="1" dirty="0"/>
              <a:t>数据清洗及分析</a:t>
            </a:r>
          </a:p>
          <a:p>
            <a:r>
              <a:rPr lang="zh-CN" altLang="en-US" dirty="0"/>
              <a:t>      </a:t>
            </a:r>
            <a:endParaRPr lang="en-US" altLang="zh-CN" dirty="0"/>
          </a:p>
          <a:p>
            <a:r>
              <a:rPr lang="zh-CN" altLang="en-US" dirty="0"/>
              <a:t>            使用</a:t>
            </a:r>
            <a:r>
              <a:rPr lang="en-US" altLang="zh-CN" dirty="0"/>
              <a:t>shuju.py</a:t>
            </a:r>
            <a:r>
              <a:rPr lang="zh-CN" altLang="en-US" dirty="0"/>
              <a:t>代码对爬取存储的数据进行格式化整理，同时，对数据间的关系进行分析计算，生成</a:t>
            </a:r>
            <a:r>
              <a:rPr lang="en-US" altLang="zh-CN" dirty="0" err="1"/>
              <a:t>json</a:t>
            </a:r>
            <a:r>
              <a:rPr lang="zh-CN" altLang="en-US" dirty="0"/>
              <a:t>文件。</a:t>
            </a:r>
          </a:p>
          <a:p>
            <a:pPr algn="l">
              <a:buClrTx/>
              <a:buSzTx/>
              <a:buFontTx/>
            </a:pPr>
            <a:endParaRPr lang="zh-CN" altLang="en-US" sz="2600" b="1" dirty="0"/>
          </a:p>
          <a:p>
            <a:pPr algn="l">
              <a:buClrTx/>
              <a:buSzTx/>
              <a:buFontTx/>
            </a:pPr>
            <a:r>
              <a:rPr lang="zh-CN" altLang="en-US" sz="2600" b="1" dirty="0"/>
              <a:t>数据可视化</a:t>
            </a:r>
            <a:endParaRPr lang="en-US" altLang="zh-CN" sz="2600" b="1" dirty="0"/>
          </a:p>
          <a:p>
            <a:pPr algn="l">
              <a:buClrTx/>
              <a:buSzTx/>
              <a:buFontTx/>
            </a:pPr>
            <a:r>
              <a:rPr lang="zh-CN" altLang="en-US" sz="2600" b="1" dirty="0"/>
              <a:t>         </a:t>
            </a:r>
            <a:r>
              <a:rPr lang="zh-CN" altLang="en-US" dirty="0"/>
              <a:t>对生成的</a:t>
            </a:r>
            <a:r>
              <a:rPr lang="en-US" altLang="zh-CN" dirty="0" err="1"/>
              <a:t>json</a:t>
            </a:r>
            <a:r>
              <a:rPr lang="zh-CN" altLang="en-US" dirty="0"/>
              <a:t>文件进行可视化的数据展示。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480" y="3581400"/>
            <a:ext cx="6543040" cy="1078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5400" b="1" dirty="0">
                <a:solidFill>
                  <a:srgbClr val="0070C0"/>
                </a:solidFill>
              </a:rPr>
              <a:t>数据采集与</a:t>
            </a:r>
            <a:r>
              <a:rPr lang="en-US" altLang="zh-CN" sz="5400" b="1" dirty="0">
                <a:solidFill>
                  <a:srgbClr val="0070C0"/>
                </a:solidFill>
              </a:rPr>
              <a:t>HDFS</a:t>
            </a:r>
            <a:r>
              <a:rPr lang="zh-CN" altLang="en-US" sz="5400" b="1" dirty="0">
                <a:solidFill>
                  <a:srgbClr val="0070C0"/>
                </a:solidFill>
              </a:rPr>
              <a:t>存储</a:t>
            </a:r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-3429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3260000">
            <a:off x="7728159" y="-1611353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数据采集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雅酷黑简" panose="00020600040101010101" charset="-122"/>
              <a:ea typeface="汉仪雅酷黑简" panose="0002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6023" y="2886075"/>
            <a:ext cx="9045673" cy="33528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C28C589-AC77-B77E-9BF0-09CC542BB695}"/>
              </a:ext>
            </a:extLst>
          </p:cNvPr>
          <p:cNvSpPr txBox="1"/>
          <p:nvPr/>
        </p:nvSpPr>
        <p:spPr>
          <a:xfrm>
            <a:off x="391886" y="1442901"/>
            <a:ext cx="84037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首先将</a:t>
            </a:r>
            <a:r>
              <a:rPr lang="en-US" altLang="zh-CN" sz="2400" dirty="0"/>
              <a:t> 8 </a:t>
            </a:r>
            <a:r>
              <a:rPr lang="zh-CN" altLang="zh-CN" sz="2400" dirty="0"/>
              <a:t>个数据文件上传到虚拟机，并通过</a:t>
            </a:r>
            <a:r>
              <a:rPr lang="en-US" altLang="zh-CN" sz="2400" dirty="0"/>
              <a:t> HDFS </a:t>
            </a:r>
            <a:r>
              <a:rPr lang="zh-CN" altLang="zh-CN" sz="2400" dirty="0"/>
              <a:t>命令将原始数据上传至分布式文件系统，</a:t>
            </a:r>
            <a:r>
              <a:rPr lang="en-US" altLang="zh-CN" sz="2400" dirty="0"/>
              <a:t>HDFS </a:t>
            </a:r>
            <a:r>
              <a:rPr lang="zh-CN" altLang="zh-CN" sz="2400" dirty="0"/>
              <a:t>默认三副本机制保证数据不会因单节点故障而丢失。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-3429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9080000">
            <a:off x="8088708" y="-1610985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en-US" altLang="zh-CN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Hive</a:t>
            </a:r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数据仓库设计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雅酷黑简" panose="00020600040101010101" charset="-122"/>
              <a:ea typeface="汉仪雅酷黑简" panose="0002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7775" y="1345915"/>
            <a:ext cx="7456170" cy="329607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1E41273-B788-35A8-09E0-8DCD3A7BB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776" y="4641989"/>
            <a:ext cx="7456170" cy="638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-3429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2580000">
            <a:off x="7906043" y="-1763685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数据装载与结果验证</a:t>
            </a:r>
            <a:endParaRPr lang="en-US" altLang="zh-CN" sz="4000" b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雅酷黑简" panose="00020600040101010101" charset="-122"/>
              <a:ea typeface="汉仪雅酷黑简" panose="00020600040101010101" charset="-122"/>
            </a:endParaRPr>
          </a:p>
          <a:p>
            <a:pPr algn="ctr"/>
            <a:endParaRPr lang="zh-CN" altLang="en-US" sz="4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雅酷黑简" panose="00020600040101010101" charset="-122"/>
              <a:ea typeface="汉仪雅酷黑简" panose="0002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00613" y="1364615"/>
            <a:ext cx="8070677" cy="43308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CF721-63AA-744E-0325-1EA2F6EC4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>
            <a:extLst>
              <a:ext uri="{FF2B5EF4-FFF2-40B4-BE49-F238E27FC236}">
                <a16:creationId xmlns:a16="http://schemas.microsoft.com/office/drawing/2014/main" id="{AFD72E15-4BAB-AF78-228D-37B6BE70A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151C097-4D2B-83F3-0C70-60DBA48D93D0}"/>
              </a:ext>
            </a:extLst>
          </p:cNvPr>
          <p:cNvSpPr/>
          <p:nvPr/>
        </p:nvSpPr>
        <p:spPr>
          <a:xfrm>
            <a:off x="3332480" y="3581400"/>
            <a:ext cx="6543040" cy="1078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5400" b="1" dirty="0">
                <a:solidFill>
                  <a:srgbClr val="0070C0"/>
                </a:solidFill>
              </a:rPr>
              <a:t>数据表的设计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1856A75-79BC-4D77-51D9-13E86CFC0F72}"/>
              </a:ext>
            </a:extLst>
          </p:cNvPr>
          <p:cNvSpPr/>
          <p:nvPr/>
        </p:nvSpPr>
        <p:spPr>
          <a:xfrm>
            <a:off x="3332163" y="1433195"/>
            <a:ext cx="595693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>
            <a:extLst>
              <a:ext uri="{FF2B5EF4-FFF2-40B4-BE49-F238E27FC236}">
                <a16:creationId xmlns:a16="http://schemas.microsoft.com/office/drawing/2014/main" id="{0629DDAE-2E2C-E3D2-C606-3E8EE9A84B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>
            <a:extLst>
              <a:ext uri="{FF2B5EF4-FFF2-40B4-BE49-F238E27FC236}">
                <a16:creationId xmlns:a16="http://schemas.microsoft.com/office/drawing/2014/main" id="{311E74DA-E89D-BF53-F82C-E75F4D84F6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>
            <a:extLst>
              <a:ext uri="{FF2B5EF4-FFF2-40B4-BE49-F238E27FC236}">
                <a16:creationId xmlns:a16="http://schemas.microsoft.com/office/drawing/2014/main" id="{31414036-4395-7B64-7F48-BF72B82F218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44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8040000">
            <a:off x="7547762" y="-1611001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7" name="矩形 6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数据总览表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雅酷黑简" panose="00020600040101010101" charset="-122"/>
              <a:ea typeface="汉仪雅酷黑简" panose="0002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9955" y="3482212"/>
            <a:ext cx="7954485" cy="20263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9CFF912-1CFC-E4EA-3ED1-D83ABF6663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590" y="1548367"/>
            <a:ext cx="7954485" cy="1933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-3429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3500000">
            <a:off x="7702759" y="-1725653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7" name="矩形 6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品类销售结果表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雅酷黑简" panose="00020600040101010101" charset="-122"/>
              <a:ea typeface="汉仪雅酷黑简" panose="0002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9164" y="1252718"/>
            <a:ext cx="6015881" cy="231312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7DDA9CE-DB1A-40D6-921A-0053FEA35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64" y="3565842"/>
            <a:ext cx="7416583" cy="28622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-3429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8960000">
            <a:off x="7934618" y="-1763685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7" name="矩形 6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时段销售结果表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9566" y="1364018"/>
            <a:ext cx="7132955" cy="247075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0D260B3-1710-1263-24F7-6423860A61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566" y="3852810"/>
            <a:ext cx="8200663" cy="2648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2700000">
            <a:off x="7623962" y="-1610366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月度销售结果表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5117" y="1282149"/>
            <a:ext cx="6946900" cy="22836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E160A22-4D21-4C20-A338-94E224067E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495" y="3565842"/>
            <a:ext cx="6836144" cy="31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-3429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8160000">
            <a:off x="8088708" y="-1610985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门店业绩结果表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8780" y="1082040"/>
            <a:ext cx="6983730" cy="30427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FDAE0B4-CBF1-8348-00B6-225BBD72FF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780" y="4174201"/>
            <a:ext cx="7865654" cy="21338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-3429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2" name="任意多边形 1"/>
          <p:cNvSpPr/>
          <p:nvPr/>
        </p:nvSpPr>
        <p:spPr>
          <a:xfrm rot="13380000">
            <a:off x="7906043" y="-1763685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城市消费力结果表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9740" y="1212807"/>
            <a:ext cx="7065010" cy="25990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531AA15-FCF1-AD4C-808C-7A8D1755CE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40" y="3822917"/>
            <a:ext cx="8083369" cy="8954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77DEA5A-97B5-2976-E678-AE1B24EB15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40" y="4717721"/>
            <a:ext cx="8083369" cy="8478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8900000">
            <a:off x="7547762" y="-1611001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商品销售结果表</a:t>
            </a: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/>
        </p:blipFill>
        <p:spPr>
          <a:xfrm>
            <a:off x="294186" y="1082040"/>
            <a:ext cx="6707505" cy="30462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6E96809-9522-FCB5-AE74-7A764A7489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186" y="4128285"/>
            <a:ext cx="8649907" cy="26197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-3429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2" name="任意多边形 1"/>
          <p:cNvSpPr/>
          <p:nvPr/>
        </p:nvSpPr>
        <p:spPr>
          <a:xfrm rot="2700000">
            <a:off x="8088708" y="-1610985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星期销售结果表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3406" y="1518360"/>
            <a:ext cx="7103745" cy="15366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A23D270-A623-7545-0A25-C7825172F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140" y="3353809"/>
            <a:ext cx="8764223" cy="114316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82B9AEF-B8FC-3B36-5BBB-A3BB76600C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140" y="4496969"/>
            <a:ext cx="8764223" cy="8764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-3429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8100000">
            <a:off x="7702759" y="-1725653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时段和工作日结果表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0858" y="3381475"/>
            <a:ext cx="8233410" cy="31196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E802FDD-104A-008A-BB09-6E51C3A798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58" y="1333314"/>
            <a:ext cx="7830643" cy="20481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-3429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2" name="任意多边形 1"/>
          <p:cNvSpPr/>
          <p:nvPr/>
        </p:nvSpPr>
        <p:spPr>
          <a:xfrm rot="13380000">
            <a:off x="7934618" y="-1763685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星期和时段结果表</a:t>
            </a:r>
            <a:endParaRPr lang="en-US" altLang="zh-CN" sz="4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雅酷黑简" panose="00020600040101010101" charset="-122"/>
              <a:ea typeface="汉仪雅酷黑简" panose="00020600040101010101" charset="-122"/>
            </a:endParaRPr>
          </a:p>
          <a:p>
            <a:pPr algn="ctr"/>
            <a:endParaRPr lang="zh-CN" altLang="en-US" sz="4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雅酷黑简" panose="00020600040101010101" charset="-122"/>
              <a:ea typeface="汉仪雅酷黑简" panose="0002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5117" y="1451610"/>
            <a:ext cx="7825105" cy="17815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DF8CFA-425B-BE39-6B26-5935501AE1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117" y="3233175"/>
            <a:ext cx="8783276" cy="2152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8900000">
            <a:off x="7547762" y="-1610366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每日销售结果表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雅酷黑简" panose="00020600040101010101" charset="-122"/>
              <a:ea typeface="汉仪雅酷黑简" panose="00020600040101010101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5117" y="1417320"/>
            <a:ext cx="8183245" cy="22565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13CBD31-4409-3436-5D77-27C5862A70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117" y="3552389"/>
            <a:ext cx="9078592" cy="20195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-3429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7980000">
            <a:off x="7702759" y="-1611353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品类和月度结果表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雅酷黑简" panose="00020600040101010101" charset="-122"/>
              <a:ea typeface="汉仪雅酷黑简" panose="0002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8257" y="1651200"/>
            <a:ext cx="6685280" cy="166681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2875BB9-ECD8-EB55-C157-0E85537BDE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258" y="3318015"/>
            <a:ext cx="8581572" cy="19052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3500000">
            <a:off x="7547762" y="-1610366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/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城市和月份结果表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4035" y="1330325"/>
            <a:ext cx="6782435" cy="19127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B2F5ED1-7973-C280-88CD-8DF004E03F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451" y="3759969"/>
            <a:ext cx="8584807" cy="12288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E0B6ACE-A702-CDF9-9DC6-C207B5008B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035" y="3258309"/>
            <a:ext cx="8583223" cy="495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11692-E7C1-AA92-43C7-E5CCA0279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73FFB3F-CA52-BDE4-A25D-EA42EDED5FBC}"/>
              </a:ext>
            </a:extLst>
          </p:cNvPr>
          <p:cNvSpPr/>
          <p:nvPr/>
        </p:nvSpPr>
        <p:spPr>
          <a:xfrm>
            <a:off x="-26670" y="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>
            <a:extLst>
              <a:ext uri="{FF2B5EF4-FFF2-40B4-BE49-F238E27FC236}">
                <a16:creationId xmlns:a16="http://schemas.microsoft.com/office/drawing/2014/main" id="{08BB8B07-91CC-2336-1C39-9C1029D0ED05}"/>
              </a:ext>
            </a:extLst>
          </p:cNvPr>
          <p:cNvSpPr/>
          <p:nvPr/>
        </p:nvSpPr>
        <p:spPr>
          <a:xfrm rot="13500000">
            <a:off x="7547762" y="-1610366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A48CB043-EF4E-DF1E-2790-94B332777D9F}"/>
              </a:ext>
            </a:extLst>
          </p:cNvPr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>
              <a:extLst>
                <a:ext uri="{FF2B5EF4-FFF2-40B4-BE49-F238E27FC236}">
                  <a16:creationId xmlns:a16="http://schemas.microsoft.com/office/drawing/2014/main" id="{418F511D-B98C-CD5E-D91D-5BC7C8B54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>
              <a:extLst>
                <a:ext uri="{FF2B5EF4-FFF2-40B4-BE49-F238E27FC236}">
                  <a16:creationId xmlns:a16="http://schemas.microsoft.com/office/drawing/2014/main" id="{D8E55D56-7920-AE6F-DF10-BD22AE636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>
            <a:extLst>
              <a:ext uri="{FF2B5EF4-FFF2-40B4-BE49-F238E27FC236}">
                <a16:creationId xmlns:a16="http://schemas.microsoft.com/office/drawing/2014/main" id="{43E5E4BF-C3BE-7E4E-C7FA-568370BABA51}"/>
              </a:ext>
            </a:extLst>
          </p:cNvPr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门店</a:t>
            </a:r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和月份结果表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C3307B-00FD-7F35-15EE-2E38E3E386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4035" y="1330325"/>
            <a:ext cx="6642252" cy="191274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597B083-F4F4-BD15-7D18-3FF3B6002E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452" y="3262758"/>
            <a:ext cx="8846680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26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7D5C5-2FD6-6A4B-3C31-36F3078D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86EBB6F-1D65-A217-7E29-427915357A57}"/>
              </a:ext>
            </a:extLst>
          </p:cNvPr>
          <p:cNvSpPr/>
          <p:nvPr/>
        </p:nvSpPr>
        <p:spPr>
          <a:xfrm>
            <a:off x="-26670" y="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>
            <a:extLst>
              <a:ext uri="{FF2B5EF4-FFF2-40B4-BE49-F238E27FC236}">
                <a16:creationId xmlns:a16="http://schemas.microsoft.com/office/drawing/2014/main" id="{BF35B60E-C026-067B-4B27-394FB7B32F10}"/>
              </a:ext>
            </a:extLst>
          </p:cNvPr>
          <p:cNvSpPr/>
          <p:nvPr/>
        </p:nvSpPr>
        <p:spPr>
          <a:xfrm rot="13500000">
            <a:off x="7547762" y="-1610366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929A4288-6DC2-7046-4C8F-C31797F80568}"/>
              </a:ext>
            </a:extLst>
          </p:cNvPr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>
              <a:extLst>
                <a:ext uri="{FF2B5EF4-FFF2-40B4-BE49-F238E27FC236}">
                  <a16:creationId xmlns:a16="http://schemas.microsoft.com/office/drawing/2014/main" id="{557B16FA-D406-7C83-DFB2-5E43B784C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>
              <a:extLst>
                <a:ext uri="{FF2B5EF4-FFF2-40B4-BE49-F238E27FC236}">
                  <a16:creationId xmlns:a16="http://schemas.microsoft.com/office/drawing/2014/main" id="{46369154-5FCC-217B-FA14-EB3703D8B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>
            <a:extLst>
              <a:ext uri="{FF2B5EF4-FFF2-40B4-BE49-F238E27FC236}">
                <a16:creationId xmlns:a16="http://schemas.microsoft.com/office/drawing/2014/main" id="{60486884-7C4B-6283-BB6C-F26DC0D2F325}"/>
              </a:ext>
            </a:extLst>
          </p:cNvPr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门店</a:t>
            </a:r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和品类结果表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2D1CD51-7E3D-0F25-9FEC-662458C358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2452" y="1417320"/>
            <a:ext cx="6827188" cy="19127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F635071-70A6-E1DE-AC16-8A5E9A2DF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452" y="3342250"/>
            <a:ext cx="9021434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5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7C4EA-CBC6-A52C-9335-9565552D5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A0F60A9-612D-A3BC-8CEA-E4F812F9BE5D}"/>
              </a:ext>
            </a:extLst>
          </p:cNvPr>
          <p:cNvSpPr/>
          <p:nvPr/>
        </p:nvSpPr>
        <p:spPr>
          <a:xfrm>
            <a:off x="15240" y="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>
            <a:extLst>
              <a:ext uri="{FF2B5EF4-FFF2-40B4-BE49-F238E27FC236}">
                <a16:creationId xmlns:a16="http://schemas.microsoft.com/office/drawing/2014/main" id="{C88B6DC1-DF64-1333-9B45-A827B48ACC22}"/>
              </a:ext>
            </a:extLst>
          </p:cNvPr>
          <p:cNvSpPr/>
          <p:nvPr/>
        </p:nvSpPr>
        <p:spPr>
          <a:xfrm rot="13500000">
            <a:off x="7547762" y="-1610366"/>
            <a:ext cx="10080000" cy="10080000"/>
          </a:xfrm>
          <a:custGeom>
            <a:avLst/>
            <a:gdLst>
              <a:gd name="adj" fmla="val 3665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84" h="9484">
                <a:moveTo>
                  <a:pt x="6006" y="4802"/>
                </a:moveTo>
                <a:lnTo>
                  <a:pt x="9484" y="4802"/>
                </a:lnTo>
                <a:lnTo>
                  <a:pt x="9484" y="4803"/>
                </a:lnTo>
                <a:cubicBezTo>
                  <a:pt x="9452" y="7374"/>
                  <a:pt x="7374" y="9452"/>
                  <a:pt x="4803" y="9484"/>
                </a:cubicBezTo>
                <a:lnTo>
                  <a:pt x="4802" y="9484"/>
                </a:lnTo>
                <a:lnTo>
                  <a:pt x="4802" y="6006"/>
                </a:lnTo>
                <a:lnTo>
                  <a:pt x="4805" y="6006"/>
                </a:lnTo>
                <a:cubicBezTo>
                  <a:pt x="5453" y="5974"/>
                  <a:pt x="5973" y="5455"/>
                  <a:pt x="6006" y="4807"/>
                </a:cubicBezTo>
                <a:lnTo>
                  <a:pt x="6006" y="4802"/>
                </a:lnTo>
                <a:close/>
                <a:moveTo>
                  <a:pt x="0" y="4802"/>
                </a:moveTo>
                <a:lnTo>
                  <a:pt x="3478" y="4802"/>
                </a:lnTo>
                <a:lnTo>
                  <a:pt x="3478" y="4807"/>
                </a:lnTo>
                <a:cubicBezTo>
                  <a:pt x="3511" y="5455"/>
                  <a:pt x="4031" y="5974"/>
                  <a:pt x="4679" y="6006"/>
                </a:cubicBezTo>
                <a:lnTo>
                  <a:pt x="4683" y="6006"/>
                </a:lnTo>
                <a:lnTo>
                  <a:pt x="4683" y="9484"/>
                </a:lnTo>
                <a:lnTo>
                  <a:pt x="4681" y="9484"/>
                </a:lnTo>
                <a:cubicBezTo>
                  <a:pt x="2111" y="9452"/>
                  <a:pt x="33" y="7374"/>
                  <a:pt x="0" y="4803"/>
                </a:cubicBezTo>
                <a:lnTo>
                  <a:pt x="0" y="4802"/>
                </a:lnTo>
                <a:close/>
                <a:moveTo>
                  <a:pt x="4683" y="0"/>
                </a:moveTo>
                <a:lnTo>
                  <a:pt x="4683" y="3478"/>
                </a:lnTo>
                <a:lnTo>
                  <a:pt x="4679" y="3478"/>
                </a:lnTo>
                <a:cubicBezTo>
                  <a:pt x="4031" y="3510"/>
                  <a:pt x="3511" y="4029"/>
                  <a:pt x="3478" y="4677"/>
                </a:cubicBezTo>
                <a:lnTo>
                  <a:pt x="3478" y="4683"/>
                </a:lnTo>
                <a:lnTo>
                  <a:pt x="0" y="4683"/>
                </a:lnTo>
                <a:lnTo>
                  <a:pt x="0" y="4681"/>
                </a:lnTo>
                <a:cubicBezTo>
                  <a:pt x="33" y="2110"/>
                  <a:pt x="2111" y="32"/>
                  <a:pt x="4681" y="0"/>
                </a:cubicBezTo>
                <a:lnTo>
                  <a:pt x="4683" y="0"/>
                </a:lnTo>
                <a:close/>
                <a:moveTo>
                  <a:pt x="4802" y="0"/>
                </a:moveTo>
                <a:lnTo>
                  <a:pt x="4803" y="0"/>
                </a:lnTo>
                <a:cubicBezTo>
                  <a:pt x="7374" y="32"/>
                  <a:pt x="9452" y="2110"/>
                  <a:pt x="9484" y="4681"/>
                </a:cubicBezTo>
                <a:lnTo>
                  <a:pt x="9484" y="4683"/>
                </a:lnTo>
                <a:lnTo>
                  <a:pt x="6006" y="4683"/>
                </a:lnTo>
                <a:lnTo>
                  <a:pt x="6006" y="4677"/>
                </a:lnTo>
                <a:cubicBezTo>
                  <a:pt x="5973" y="4029"/>
                  <a:pt x="5453" y="3510"/>
                  <a:pt x="4805" y="3478"/>
                </a:cubicBezTo>
                <a:lnTo>
                  <a:pt x="4802" y="3478"/>
                </a:lnTo>
                <a:lnTo>
                  <a:pt x="4802" y="0"/>
                </a:lnTo>
                <a:close/>
              </a:path>
            </a:pathLst>
          </a:custGeom>
          <a:ln>
            <a:noFill/>
          </a:ln>
          <a:effectLst>
            <a:outerShdw blurRad="3937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F3BCFD4-7161-2B6E-2967-F17A54078661}"/>
              </a:ext>
            </a:extLst>
          </p:cNvPr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>
              <a:extLst>
                <a:ext uri="{FF2B5EF4-FFF2-40B4-BE49-F238E27FC236}">
                  <a16:creationId xmlns:a16="http://schemas.microsoft.com/office/drawing/2014/main" id="{9A3A22F9-E2B7-B9B9-FCCC-335593616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>
              <a:extLst>
                <a:ext uri="{FF2B5EF4-FFF2-40B4-BE49-F238E27FC236}">
                  <a16:creationId xmlns:a16="http://schemas.microsoft.com/office/drawing/2014/main" id="{FA7CA19F-B5BC-EE91-A465-97E3FC5DC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8" name="矩形 7" descr="7b0a2020202022776f7264617274223a2022220a7d0a">
            <a:extLst>
              <a:ext uri="{FF2B5EF4-FFF2-40B4-BE49-F238E27FC236}">
                <a16:creationId xmlns:a16="http://schemas.microsoft.com/office/drawing/2014/main" id="{A514AB23-AACF-B2AC-48E8-8E9515989B97}"/>
              </a:ext>
            </a:extLst>
          </p:cNvPr>
          <p:cNvSpPr/>
          <p:nvPr/>
        </p:nvSpPr>
        <p:spPr>
          <a:xfrm>
            <a:off x="1365250" y="342900"/>
            <a:ext cx="3687445" cy="6445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门店</a:t>
            </a:r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雅酷黑简" panose="00020600040101010101" charset="-122"/>
                <a:ea typeface="汉仪雅酷黑简" panose="00020600040101010101" charset="-122"/>
              </a:rPr>
              <a:t>和商品结果表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AC1939D-B973-510C-62AE-A22B53391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0471" y="3729988"/>
            <a:ext cx="9021434" cy="23647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58B096A-96A3-67FF-2697-E3408B07B6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71" y="1013097"/>
            <a:ext cx="7430537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5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后端展示</a:t>
            </a:r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6670" y="0"/>
            <a:ext cx="12218670" cy="692658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/>
          <p:cNvGrpSpPr/>
          <p:nvPr/>
        </p:nvGrpSpPr>
        <p:grpSpPr>
          <a:xfrm>
            <a:off x="0" y="429895"/>
            <a:ext cx="12192000" cy="6428105"/>
            <a:chOff x="0" y="677"/>
            <a:chExt cx="19200" cy="10123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" y="677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B92D017C-C123-8733-B154-75837EF746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938" y="421903"/>
            <a:ext cx="3695474" cy="6382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后端数据操作</a:t>
            </a:r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79375" y="-125730"/>
            <a:ext cx="12197715" cy="698373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8960000">
            <a:off x="7734539" y="-1431053"/>
            <a:ext cx="9720000" cy="9720000"/>
          </a:xfrm>
          <a:custGeom>
            <a:avLst/>
            <a:gdLst>
              <a:gd name="adj" fmla="val 3921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39" h="9439">
                <a:moveTo>
                  <a:pt x="5736" y="4779"/>
                </a:moveTo>
                <a:lnTo>
                  <a:pt x="9439" y="4779"/>
                </a:lnTo>
                <a:lnTo>
                  <a:pt x="9439" y="4781"/>
                </a:lnTo>
                <a:cubicBezTo>
                  <a:pt x="9407" y="7339"/>
                  <a:pt x="7339" y="9407"/>
                  <a:pt x="4780" y="9439"/>
                </a:cubicBezTo>
                <a:lnTo>
                  <a:pt x="4779" y="9439"/>
                </a:lnTo>
                <a:lnTo>
                  <a:pt x="4779" y="5736"/>
                </a:lnTo>
                <a:lnTo>
                  <a:pt x="4794" y="5735"/>
                </a:lnTo>
                <a:cubicBezTo>
                  <a:pt x="5296" y="5698"/>
                  <a:pt x="5696" y="5299"/>
                  <a:pt x="5735" y="4798"/>
                </a:cubicBezTo>
                <a:lnTo>
                  <a:pt x="5736" y="4779"/>
                </a:lnTo>
                <a:close/>
                <a:moveTo>
                  <a:pt x="0" y="4779"/>
                </a:moveTo>
                <a:lnTo>
                  <a:pt x="3704" y="4779"/>
                </a:lnTo>
                <a:lnTo>
                  <a:pt x="3705" y="4798"/>
                </a:lnTo>
                <a:cubicBezTo>
                  <a:pt x="3743" y="5299"/>
                  <a:pt x="4144" y="5698"/>
                  <a:pt x="4645" y="5735"/>
                </a:cubicBezTo>
                <a:lnTo>
                  <a:pt x="4660" y="5736"/>
                </a:lnTo>
                <a:lnTo>
                  <a:pt x="4660" y="9439"/>
                </a:lnTo>
                <a:lnTo>
                  <a:pt x="4659" y="9439"/>
                </a:lnTo>
                <a:cubicBezTo>
                  <a:pt x="2101" y="9407"/>
                  <a:pt x="32" y="7339"/>
                  <a:pt x="0" y="4781"/>
                </a:cubicBezTo>
                <a:lnTo>
                  <a:pt x="0" y="4779"/>
                </a:lnTo>
                <a:close/>
                <a:moveTo>
                  <a:pt x="4779" y="0"/>
                </a:moveTo>
                <a:lnTo>
                  <a:pt x="4780" y="0"/>
                </a:lnTo>
                <a:cubicBezTo>
                  <a:pt x="7339" y="32"/>
                  <a:pt x="9407" y="2100"/>
                  <a:pt x="9439" y="4659"/>
                </a:cubicBezTo>
                <a:lnTo>
                  <a:pt x="9439" y="4660"/>
                </a:lnTo>
                <a:lnTo>
                  <a:pt x="5736" y="4660"/>
                </a:lnTo>
                <a:lnTo>
                  <a:pt x="5735" y="4641"/>
                </a:lnTo>
                <a:cubicBezTo>
                  <a:pt x="5696" y="4140"/>
                  <a:pt x="5296" y="3741"/>
                  <a:pt x="4794" y="3704"/>
                </a:cubicBezTo>
                <a:lnTo>
                  <a:pt x="4779" y="3704"/>
                </a:lnTo>
                <a:lnTo>
                  <a:pt x="4779" y="0"/>
                </a:lnTo>
                <a:close/>
                <a:moveTo>
                  <a:pt x="4660" y="0"/>
                </a:moveTo>
                <a:lnTo>
                  <a:pt x="4660" y="3704"/>
                </a:lnTo>
                <a:lnTo>
                  <a:pt x="4645" y="3704"/>
                </a:lnTo>
                <a:cubicBezTo>
                  <a:pt x="4144" y="3741"/>
                  <a:pt x="3743" y="4140"/>
                  <a:pt x="3705" y="4641"/>
                </a:cubicBezTo>
                <a:lnTo>
                  <a:pt x="3704" y="4660"/>
                </a:lnTo>
                <a:lnTo>
                  <a:pt x="0" y="4660"/>
                </a:lnTo>
                <a:lnTo>
                  <a:pt x="0" y="4659"/>
                </a:lnTo>
                <a:cubicBezTo>
                  <a:pt x="32" y="2100"/>
                  <a:pt x="2101" y="32"/>
                  <a:pt x="4659" y="0"/>
                </a:cubicBezTo>
                <a:lnTo>
                  <a:pt x="4660" y="0"/>
                </a:lnTo>
                <a:close/>
              </a:path>
            </a:pathLst>
          </a:custGeom>
          <a:ln>
            <a:noFill/>
          </a:ln>
          <a:effectLst>
            <a:outerShdw blurRad="3810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3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" y="99695"/>
            <a:ext cx="579755" cy="6521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F0CCD00-E9D4-9793-71CE-4E94A21C98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-79375" y="-125730"/>
            <a:ext cx="6022340" cy="62168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4F8AD69-5EC2-466D-A70E-6C9F51899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3158" y="-125730"/>
            <a:ext cx="7695182" cy="6216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5715" y="-19050"/>
            <a:ext cx="12197715" cy="6877050"/>
          </a:xfrm>
          <a:prstGeom prst="rect">
            <a:avLst/>
          </a:prstGeom>
          <a:solidFill>
            <a:schemeClr val="bg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2820000">
            <a:off x="7734539" y="-1431053"/>
            <a:ext cx="9720000" cy="9720000"/>
          </a:xfrm>
          <a:custGeom>
            <a:avLst/>
            <a:gdLst>
              <a:gd name="adj" fmla="val 3921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39" h="9439">
                <a:moveTo>
                  <a:pt x="5736" y="4779"/>
                </a:moveTo>
                <a:lnTo>
                  <a:pt x="9439" y="4779"/>
                </a:lnTo>
                <a:lnTo>
                  <a:pt x="9439" y="4781"/>
                </a:lnTo>
                <a:cubicBezTo>
                  <a:pt x="9407" y="7339"/>
                  <a:pt x="7339" y="9407"/>
                  <a:pt x="4780" y="9439"/>
                </a:cubicBezTo>
                <a:lnTo>
                  <a:pt x="4779" y="9439"/>
                </a:lnTo>
                <a:lnTo>
                  <a:pt x="4779" y="5736"/>
                </a:lnTo>
                <a:lnTo>
                  <a:pt x="4794" y="5735"/>
                </a:lnTo>
                <a:cubicBezTo>
                  <a:pt x="5296" y="5698"/>
                  <a:pt x="5696" y="5299"/>
                  <a:pt x="5735" y="4798"/>
                </a:cubicBezTo>
                <a:lnTo>
                  <a:pt x="5736" y="4779"/>
                </a:lnTo>
                <a:close/>
                <a:moveTo>
                  <a:pt x="0" y="4779"/>
                </a:moveTo>
                <a:lnTo>
                  <a:pt x="3704" y="4779"/>
                </a:lnTo>
                <a:lnTo>
                  <a:pt x="3705" y="4798"/>
                </a:lnTo>
                <a:cubicBezTo>
                  <a:pt x="3743" y="5299"/>
                  <a:pt x="4144" y="5698"/>
                  <a:pt x="4645" y="5735"/>
                </a:cubicBezTo>
                <a:lnTo>
                  <a:pt x="4660" y="5736"/>
                </a:lnTo>
                <a:lnTo>
                  <a:pt x="4660" y="9439"/>
                </a:lnTo>
                <a:lnTo>
                  <a:pt x="4659" y="9439"/>
                </a:lnTo>
                <a:cubicBezTo>
                  <a:pt x="2101" y="9407"/>
                  <a:pt x="32" y="7339"/>
                  <a:pt x="0" y="4781"/>
                </a:cubicBezTo>
                <a:lnTo>
                  <a:pt x="0" y="4779"/>
                </a:lnTo>
                <a:close/>
                <a:moveTo>
                  <a:pt x="4779" y="0"/>
                </a:moveTo>
                <a:lnTo>
                  <a:pt x="4780" y="0"/>
                </a:lnTo>
                <a:cubicBezTo>
                  <a:pt x="7339" y="32"/>
                  <a:pt x="9407" y="2100"/>
                  <a:pt x="9439" y="4659"/>
                </a:cubicBezTo>
                <a:lnTo>
                  <a:pt x="9439" y="4660"/>
                </a:lnTo>
                <a:lnTo>
                  <a:pt x="5736" y="4660"/>
                </a:lnTo>
                <a:lnTo>
                  <a:pt x="5735" y="4641"/>
                </a:lnTo>
                <a:cubicBezTo>
                  <a:pt x="5696" y="4140"/>
                  <a:pt x="5296" y="3741"/>
                  <a:pt x="4794" y="3704"/>
                </a:cubicBezTo>
                <a:lnTo>
                  <a:pt x="4779" y="3704"/>
                </a:lnTo>
                <a:lnTo>
                  <a:pt x="4779" y="0"/>
                </a:lnTo>
                <a:close/>
                <a:moveTo>
                  <a:pt x="4660" y="0"/>
                </a:moveTo>
                <a:lnTo>
                  <a:pt x="4660" y="3704"/>
                </a:lnTo>
                <a:lnTo>
                  <a:pt x="4645" y="3704"/>
                </a:lnTo>
                <a:cubicBezTo>
                  <a:pt x="4144" y="3741"/>
                  <a:pt x="3743" y="4140"/>
                  <a:pt x="3705" y="4641"/>
                </a:cubicBezTo>
                <a:lnTo>
                  <a:pt x="3704" y="4660"/>
                </a:lnTo>
                <a:lnTo>
                  <a:pt x="0" y="4660"/>
                </a:lnTo>
                <a:lnTo>
                  <a:pt x="0" y="4659"/>
                </a:lnTo>
                <a:cubicBezTo>
                  <a:pt x="32" y="2100"/>
                  <a:pt x="2101" y="32"/>
                  <a:pt x="4659" y="0"/>
                </a:cubicBezTo>
                <a:lnTo>
                  <a:pt x="4660" y="0"/>
                </a:lnTo>
                <a:close/>
              </a:path>
            </a:pathLst>
          </a:custGeom>
          <a:ln>
            <a:noFill/>
          </a:ln>
          <a:effectLst>
            <a:outerShdw blurRad="3810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465"/>
            <a:ext cx="579755" cy="6521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6CF2464-ED92-EAEE-83C5-616986C6662A}"/>
              </a:ext>
            </a:extLst>
          </p:cNvPr>
          <p:cNvPicPr>
            <a:picLocks/>
          </p:cNvPicPr>
          <p:nvPr/>
        </p:nvPicPr>
        <p:blipFill>
          <a:blip r:embed="rId4"/>
          <a:srcRect r="945" b="16560"/>
          <a:stretch>
            <a:fillRect/>
          </a:stretch>
        </p:blipFill>
        <p:spPr>
          <a:xfrm>
            <a:off x="-5715" y="-19050"/>
            <a:ext cx="6981281" cy="380727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D224BB7-CE12-F1C6-273A-0E6BDE962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293" y="1658993"/>
            <a:ext cx="7585165" cy="51990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9525"/>
            <a:ext cx="12197715" cy="6877050"/>
          </a:xfrm>
          <a:prstGeom prst="rect">
            <a:avLst/>
          </a:prstGeom>
          <a:solidFill>
            <a:schemeClr val="bg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8040000">
            <a:off x="7747239" y="-1431053"/>
            <a:ext cx="9720000" cy="9720000"/>
          </a:xfrm>
          <a:custGeom>
            <a:avLst/>
            <a:gdLst>
              <a:gd name="adj" fmla="val 3921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39" h="9439">
                <a:moveTo>
                  <a:pt x="5736" y="4779"/>
                </a:moveTo>
                <a:lnTo>
                  <a:pt x="9439" y="4779"/>
                </a:lnTo>
                <a:lnTo>
                  <a:pt x="9439" y="4781"/>
                </a:lnTo>
                <a:cubicBezTo>
                  <a:pt x="9407" y="7339"/>
                  <a:pt x="7339" y="9407"/>
                  <a:pt x="4780" y="9439"/>
                </a:cubicBezTo>
                <a:lnTo>
                  <a:pt x="4779" y="9439"/>
                </a:lnTo>
                <a:lnTo>
                  <a:pt x="4779" y="5736"/>
                </a:lnTo>
                <a:lnTo>
                  <a:pt x="4794" y="5735"/>
                </a:lnTo>
                <a:cubicBezTo>
                  <a:pt x="5296" y="5698"/>
                  <a:pt x="5696" y="5299"/>
                  <a:pt x="5735" y="4798"/>
                </a:cubicBezTo>
                <a:lnTo>
                  <a:pt x="5736" y="4779"/>
                </a:lnTo>
                <a:close/>
                <a:moveTo>
                  <a:pt x="0" y="4779"/>
                </a:moveTo>
                <a:lnTo>
                  <a:pt x="3704" y="4779"/>
                </a:lnTo>
                <a:lnTo>
                  <a:pt x="3705" y="4798"/>
                </a:lnTo>
                <a:cubicBezTo>
                  <a:pt x="3743" y="5299"/>
                  <a:pt x="4144" y="5698"/>
                  <a:pt x="4645" y="5735"/>
                </a:cubicBezTo>
                <a:lnTo>
                  <a:pt x="4660" y="5736"/>
                </a:lnTo>
                <a:lnTo>
                  <a:pt x="4660" y="9439"/>
                </a:lnTo>
                <a:lnTo>
                  <a:pt x="4659" y="9439"/>
                </a:lnTo>
                <a:cubicBezTo>
                  <a:pt x="2101" y="9407"/>
                  <a:pt x="32" y="7339"/>
                  <a:pt x="0" y="4781"/>
                </a:cubicBezTo>
                <a:lnTo>
                  <a:pt x="0" y="4779"/>
                </a:lnTo>
                <a:close/>
                <a:moveTo>
                  <a:pt x="4779" y="0"/>
                </a:moveTo>
                <a:lnTo>
                  <a:pt x="4780" y="0"/>
                </a:lnTo>
                <a:cubicBezTo>
                  <a:pt x="7339" y="32"/>
                  <a:pt x="9407" y="2100"/>
                  <a:pt x="9439" y="4659"/>
                </a:cubicBezTo>
                <a:lnTo>
                  <a:pt x="9439" y="4660"/>
                </a:lnTo>
                <a:lnTo>
                  <a:pt x="5736" y="4660"/>
                </a:lnTo>
                <a:lnTo>
                  <a:pt x="5735" y="4641"/>
                </a:lnTo>
                <a:cubicBezTo>
                  <a:pt x="5696" y="4140"/>
                  <a:pt x="5296" y="3741"/>
                  <a:pt x="4794" y="3704"/>
                </a:cubicBezTo>
                <a:lnTo>
                  <a:pt x="4779" y="3704"/>
                </a:lnTo>
                <a:lnTo>
                  <a:pt x="4779" y="0"/>
                </a:lnTo>
                <a:close/>
                <a:moveTo>
                  <a:pt x="4660" y="0"/>
                </a:moveTo>
                <a:lnTo>
                  <a:pt x="4660" y="3704"/>
                </a:lnTo>
                <a:lnTo>
                  <a:pt x="4645" y="3704"/>
                </a:lnTo>
                <a:cubicBezTo>
                  <a:pt x="4144" y="3741"/>
                  <a:pt x="3743" y="4140"/>
                  <a:pt x="3705" y="4641"/>
                </a:cubicBezTo>
                <a:lnTo>
                  <a:pt x="3704" y="4660"/>
                </a:lnTo>
                <a:lnTo>
                  <a:pt x="0" y="4660"/>
                </a:lnTo>
                <a:lnTo>
                  <a:pt x="0" y="4659"/>
                </a:lnTo>
                <a:cubicBezTo>
                  <a:pt x="32" y="2100"/>
                  <a:pt x="2101" y="32"/>
                  <a:pt x="4659" y="0"/>
                </a:cubicBezTo>
                <a:lnTo>
                  <a:pt x="4660" y="0"/>
                </a:lnTo>
                <a:close/>
              </a:path>
            </a:pathLst>
          </a:custGeom>
          <a:ln>
            <a:noFill/>
          </a:ln>
          <a:effectLst>
            <a:outerShdw blurRad="3810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3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525"/>
            <a:ext cx="579755" cy="6521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9E65C2B-BBA1-0911-A27B-629B3FB9C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913" y="896167"/>
            <a:ext cx="6346372" cy="53309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5ECA395-C821-C12B-DCB3-4F7F4A16D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" y="896167"/>
            <a:ext cx="5839913" cy="533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9525"/>
            <a:ext cx="12197715" cy="687705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3560000">
            <a:off x="7747239" y="-1431053"/>
            <a:ext cx="9720000" cy="9720000"/>
          </a:xfrm>
          <a:custGeom>
            <a:avLst/>
            <a:gdLst>
              <a:gd name="adj" fmla="val 3921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39" h="9439">
                <a:moveTo>
                  <a:pt x="5736" y="4779"/>
                </a:moveTo>
                <a:lnTo>
                  <a:pt x="9439" y="4779"/>
                </a:lnTo>
                <a:lnTo>
                  <a:pt x="9439" y="4781"/>
                </a:lnTo>
                <a:cubicBezTo>
                  <a:pt x="9407" y="7339"/>
                  <a:pt x="7339" y="9407"/>
                  <a:pt x="4780" y="9439"/>
                </a:cubicBezTo>
                <a:lnTo>
                  <a:pt x="4779" y="9439"/>
                </a:lnTo>
                <a:lnTo>
                  <a:pt x="4779" y="5736"/>
                </a:lnTo>
                <a:lnTo>
                  <a:pt x="4794" y="5735"/>
                </a:lnTo>
                <a:cubicBezTo>
                  <a:pt x="5296" y="5698"/>
                  <a:pt x="5696" y="5299"/>
                  <a:pt x="5735" y="4798"/>
                </a:cubicBezTo>
                <a:lnTo>
                  <a:pt x="5736" y="4779"/>
                </a:lnTo>
                <a:close/>
                <a:moveTo>
                  <a:pt x="0" y="4779"/>
                </a:moveTo>
                <a:lnTo>
                  <a:pt x="3704" y="4779"/>
                </a:lnTo>
                <a:lnTo>
                  <a:pt x="3705" y="4798"/>
                </a:lnTo>
                <a:cubicBezTo>
                  <a:pt x="3743" y="5299"/>
                  <a:pt x="4144" y="5698"/>
                  <a:pt x="4645" y="5735"/>
                </a:cubicBezTo>
                <a:lnTo>
                  <a:pt x="4660" y="5736"/>
                </a:lnTo>
                <a:lnTo>
                  <a:pt x="4660" y="9439"/>
                </a:lnTo>
                <a:lnTo>
                  <a:pt x="4659" y="9439"/>
                </a:lnTo>
                <a:cubicBezTo>
                  <a:pt x="2101" y="9407"/>
                  <a:pt x="32" y="7339"/>
                  <a:pt x="0" y="4781"/>
                </a:cubicBezTo>
                <a:lnTo>
                  <a:pt x="0" y="4779"/>
                </a:lnTo>
                <a:close/>
                <a:moveTo>
                  <a:pt x="4779" y="0"/>
                </a:moveTo>
                <a:lnTo>
                  <a:pt x="4780" y="0"/>
                </a:lnTo>
                <a:cubicBezTo>
                  <a:pt x="7339" y="32"/>
                  <a:pt x="9407" y="2100"/>
                  <a:pt x="9439" y="4659"/>
                </a:cubicBezTo>
                <a:lnTo>
                  <a:pt x="9439" y="4660"/>
                </a:lnTo>
                <a:lnTo>
                  <a:pt x="5736" y="4660"/>
                </a:lnTo>
                <a:lnTo>
                  <a:pt x="5735" y="4641"/>
                </a:lnTo>
                <a:cubicBezTo>
                  <a:pt x="5696" y="4140"/>
                  <a:pt x="5296" y="3741"/>
                  <a:pt x="4794" y="3704"/>
                </a:cubicBezTo>
                <a:lnTo>
                  <a:pt x="4779" y="3704"/>
                </a:lnTo>
                <a:lnTo>
                  <a:pt x="4779" y="0"/>
                </a:lnTo>
                <a:close/>
                <a:moveTo>
                  <a:pt x="4660" y="0"/>
                </a:moveTo>
                <a:lnTo>
                  <a:pt x="4660" y="3704"/>
                </a:lnTo>
                <a:lnTo>
                  <a:pt x="4645" y="3704"/>
                </a:lnTo>
                <a:cubicBezTo>
                  <a:pt x="4144" y="3741"/>
                  <a:pt x="3743" y="4140"/>
                  <a:pt x="3705" y="4641"/>
                </a:cubicBezTo>
                <a:lnTo>
                  <a:pt x="3704" y="4660"/>
                </a:lnTo>
                <a:lnTo>
                  <a:pt x="0" y="4660"/>
                </a:lnTo>
                <a:lnTo>
                  <a:pt x="0" y="4659"/>
                </a:lnTo>
                <a:cubicBezTo>
                  <a:pt x="32" y="2100"/>
                  <a:pt x="2101" y="32"/>
                  <a:pt x="4659" y="0"/>
                </a:cubicBezTo>
                <a:lnTo>
                  <a:pt x="4660" y="0"/>
                </a:lnTo>
                <a:close/>
              </a:path>
            </a:pathLst>
          </a:custGeom>
          <a:ln>
            <a:noFill/>
          </a:ln>
          <a:effectLst>
            <a:outerShdw blurRad="3810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3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9755" cy="6521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945475-242E-F453-74BA-5C032D4D5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587" y="1104749"/>
            <a:ext cx="5737154" cy="49168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0D494B0-E094-F591-305A-6665AB3D19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6" y="1104749"/>
            <a:ext cx="6242211" cy="4916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80010" y="-125730"/>
            <a:ext cx="12197715" cy="6983730"/>
          </a:xfrm>
          <a:prstGeom prst="rect">
            <a:avLst/>
          </a:prstGeom>
          <a:solidFill>
            <a:schemeClr val="bg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9020000">
            <a:off x="7734539" y="-1431053"/>
            <a:ext cx="9720000" cy="9720000"/>
          </a:xfrm>
          <a:custGeom>
            <a:avLst/>
            <a:gdLst>
              <a:gd name="adj" fmla="val 3921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39" h="9439">
                <a:moveTo>
                  <a:pt x="5736" y="4779"/>
                </a:moveTo>
                <a:lnTo>
                  <a:pt x="9439" y="4779"/>
                </a:lnTo>
                <a:lnTo>
                  <a:pt x="9439" y="4781"/>
                </a:lnTo>
                <a:cubicBezTo>
                  <a:pt x="9407" y="7339"/>
                  <a:pt x="7339" y="9407"/>
                  <a:pt x="4780" y="9439"/>
                </a:cubicBezTo>
                <a:lnTo>
                  <a:pt x="4779" y="9439"/>
                </a:lnTo>
                <a:lnTo>
                  <a:pt x="4779" y="5736"/>
                </a:lnTo>
                <a:lnTo>
                  <a:pt x="4794" y="5735"/>
                </a:lnTo>
                <a:cubicBezTo>
                  <a:pt x="5296" y="5698"/>
                  <a:pt x="5696" y="5299"/>
                  <a:pt x="5735" y="4798"/>
                </a:cubicBezTo>
                <a:lnTo>
                  <a:pt x="5736" y="4779"/>
                </a:lnTo>
                <a:close/>
                <a:moveTo>
                  <a:pt x="0" y="4779"/>
                </a:moveTo>
                <a:lnTo>
                  <a:pt x="3704" y="4779"/>
                </a:lnTo>
                <a:lnTo>
                  <a:pt x="3705" y="4798"/>
                </a:lnTo>
                <a:cubicBezTo>
                  <a:pt x="3743" y="5299"/>
                  <a:pt x="4144" y="5698"/>
                  <a:pt x="4645" y="5735"/>
                </a:cubicBezTo>
                <a:lnTo>
                  <a:pt x="4660" y="5736"/>
                </a:lnTo>
                <a:lnTo>
                  <a:pt x="4660" y="9439"/>
                </a:lnTo>
                <a:lnTo>
                  <a:pt x="4659" y="9439"/>
                </a:lnTo>
                <a:cubicBezTo>
                  <a:pt x="2101" y="9407"/>
                  <a:pt x="32" y="7339"/>
                  <a:pt x="0" y="4781"/>
                </a:cubicBezTo>
                <a:lnTo>
                  <a:pt x="0" y="4779"/>
                </a:lnTo>
                <a:close/>
                <a:moveTo>
                  <a:pt x="4779" y="0"/>
                </a:moveTo>
                <a:lnTo>
                  <a:pt x="4780" y="0"/>
                </a:lnTo>
                <a:cubicBezTo>
                  <a:pt x="7339" y="32"/>
                  <a:pt x="9407" y="2100"/>
                  <a:pt x="9439" y="4659"/>
                </a:cubicBezTo>
                <a:lnTo>
                  <a:pt x="9439" y="4660"/>
                </a:lnTo>
                <a:lnTo>
                  <a:pt x="5736" y="4660"/>
                </a:lnTo>
                <a:lnTo>
                  <a:pt x="5735" y="4641"/>
                </a:lnTo>
                <a:cubicBezTo>
                  <a:pt x="5696" y="4140"/>
                  <a:pt x="5296" y="3741"/>
                  <a:pt x="4794" y="3704"/>
                </a:cubicBezTo>
                <a:lnTo>
                  <a:pt x="4779" y="3704"/>
                </a:lnTo>
                <a:lnTo>
                  <a:pt x="4779" y="0"/>
                </a:lnTo>
                <a:close/>
                <a:moveTo>
                  <a:pt x="4660" y="0"/>
                </a:moveTo>
                <a:lnTo>
                  <a:pt x="4660" y="3704"/>
                </a:lnTo>
                <a:lnTo>
                  <a:pt x="4645" y="3704"/>
                </a:lnTo>
                <a:cubicBezTo>
                  <a:pt x="4144" y="3741"/>
                  <a:pt x="3743" y="4140"/>
                  <a:pt x="3705" y="4641"/>
                </a:cubicBezTo>
                <a:lnTo>
                  <a:pt x="3704" y="4660"/>
                </a:lnTo>
                <a:lnTo>
                  <a:pt x="0" y="4660"/>
                </a:lnTo>
                <a:lnTo>
                  <a:pt x="0" y="4659"/>
                </a:lnTo>
                <a:cubicBezTo>
                  <a:pt x="32" y="2100"/>
                  <a:pt x="2101" y="32"/>
                  <a:pt x="4659" y="0"/>
                </a:cubicBezTo>
                <a:lnTo>
                  <a:pt x="4660" y="0"/>
                </a:lnTo>
                <a:close/>
              </a:path>
            </a:pathLst>
          </a:custGeom>
          <a:ln>
            <a:noFill/>
          </a:ln>
          <a:effectLst>
            <a:outerShdw blurRad="3810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3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99695"/>
            <a:ext cx="579755" cy="6521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308174D-9D70-9488-F4CB-399A749F3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84" y="751840"/>
            <a:ext cx="5610263" cy="55207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A28F8BB-9527-C78C-3580-3853AF847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859" y="751839"/>
            <a:ext cx="6702846" cy="55207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844AA-891C-6DAF-0607-48AC41260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>
            <a:extLst>
              <a:ext uri="{FF2B5EF4-FFF2-40B4-BE49-F238E27FC236}">
                <a16:creationId xmlns:a16="http://schemas.microsoft.com/office/drawing/2014/main" id="{EE8B388B-FCD5-16DF-CB41-C9AB9A0D5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4E71DD6-9AAD-2500-1782-3CDD53411030}"/>
              </a:ext>
            </a:extLst>
          </p:cNvPr>
          <p:cNvSpPr/>
          <p:nvPr/>
        </p:nvSpPr>
        <p:spPr>
          <a:xfrm>
            <a:off x="3332163" y="3239770"/>
            <a:ext cx="595693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可视化展示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C34877-421A-D00E-5BC3-A4F86646D5EB}"/>
              </a:ext>
            </a:extLst>
          </p:cNvPr>
          <p:cNvSpPr/>
          <p:nvPr/>
        </p:nvSpPr>
        <p:spPr>
          <a:xfrm>
            <a:off x="3332163" y="1433195"/>
            <a:ext cx="595693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>
            <a:extLst>
              <a:ext uri="{FF2B5EF4-FFF2-40B4-BE49-F238E27FC236}">
                <a16:creationId xmlns:a16="http://schemas.microsoft.com/office/drawing/2014/main" id="{A62280CD-1FE0-DCE1-13C0-4963AD96CC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>
            <a:extLst>
              <a:ext uri="{FF2B5EF4-FFF2-40B4-BE49-F238E27FC236}">
                <a16:creationId xmlns:a16="http://schemas.microsoft.com/office/drawing/2014/main" id="{67241E53-AD11-B755-DCF2-34958EBD85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>
            <a:extLst>
              <a:ext uri="{FF2B5EF4-FFF2-40B4-BE49-F238E27FC236}">
                <a16:creationId xmlns:a16="http://schemas.microsoft.com/office/drawing/2014/main" id="{8EE317EA-7BB2-A0B7-285B-30DDBD3EF0D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30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85090" y="0"/>
            <a:ext cx="12197715" cy="687705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9020000">
            <a:off x="7734539" y="-1431053"/>
            <a:ext cx="9720000" cy="9720000"/>
          </a:xfrm>
          <a:custGeom>
            <a:avLst/>
            <a:gdLst>
              <a:gd name="adj" fmla="val 3921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39" h="9439">
                <a:moveTo>
                  <a:pt x="5736" y="4779"/>
                </a:moveTo>
                <a:lnTo>
                  <a:pt x="9439" y="4779"/>
                </a:lnTo>
                <a:lnTo>
                  <a:pt x="9439" y="4781"/>
                </a:lnTo>
                <a:cubicBezTo>
                  <a:pt x="9407" y="7339"/>
                  <a:pt x="7339" y="9407"/>
                  <a:pt x="4780" y="9439"/>
                </a:cubicBezTo>
                <a:lnTo>
                  <a:pt x="4779" y="9439"/>
                </a:lnTo>
                <a:lnTo>
                  <a:pt x="4779" y="5736"/>
                </a:lnTo>
                <a:lnTo>
                  <a:pt x="4794" y="5735"/>
                </a:lnTo>
                <a:cubicBezTo>
                  <a:pt x="5296" y="5698"/>
                  <a:pt x="5696" y="5299"/>
                  <a:pt x="5735" y="4798"/>
                </a:cubicBezTo>
                <a:lnTo>
                  <a:pt x="5736" y="4779"/>
                </a:lnTo>
                <a:close/>
                <a:moveTo>
                  <a:pt x="0" y="4779"/>
                </a:moveTo>
                <a:lnTo>
                  <a:pt x="3704" y="4779"/>
                </a:lnTo>
                <a:lnTo>
                  <a:pt x="3705" y="4798"/>
                </a:lnTo>
                <a:cubicBezTo>
                  <a:pt x="3743" y="5299"/>
                  <a:pt x="4144" y="5698"/>
                  <a:pt x="4645" y="5735"/>
                </a:cubicBezTo>
                <a:lnTo>
                  <a:pt x="4660" y="5736"/>
                </a:lnTo>
                <a:lnTo>
                  <a:pt x="4660" y="9439"/>
                </a:lnTo>
                <a:lnTo>
                  <a:pt x="4659" y="9439"/>
                </a:lnTo>
                <a:cubicBezTo>
                  <a:pt x="2101" y="9407"/>
                  <a:pt x="32" y="7339"/>
                  <a:pt x="0" y="4781"/>
                </a:cubicBezTo>
                <a:lnTo>
                  <a:pt x="0" y="4779"/>
                </a:lnTo>
                <a:close/>
                <a:moveTo>
                  <a:pt x="4779" y="0"/>
                </a:moveTo>
                <a:lnTo>
                  <a:pt x="4780" y="0"/>
                </a:lnTo>
                <a:cubicBezTo>
                  <a:pt x="7339" y="32"/>
                  <a:pt x="9407" y="2100"/>
                  <a:pt x="9439" y="4659"/>
                </a:cubicBezTo>
                <a:lnTo>
                  <a:pt x="9439" y="4660"/>
                </a:lnTo>
                <a:lnTo>
                  <a:pt x="5736" y="4660"/>
                </a:lnTo>
                <a:lnTo>
                  <a:pt x="5735" y="4641"/>
                </a:lnTo>
                <a:cubicBezTo>
                  <a:pt x="5696" y="4140"/>
                  <a:pt x="5296" y="3741"/>
                  <a:pt x="4794" y="3704"/>
                </a:cubicBezTo>
                <a:lnTo>
                  <a:pt x="4779" y="3704"/>
                </a:lnTo>
                <a:lnTo>
                  <a:pt x="4779" y="0"/>
                </a:lnTo>
                <a:close/>
                <a:moveTo>
                  <a:pt x="4660" y="0"/>
                </a:moveTo>
                <a:lnTo>
                  <a:pt x="4660" y="3704"/>
                </a:lnTo>
                <a:lnTo>
                  <a:pt x="4645" y="3704"/>
                </a:lnTo>
                <a:cubicBezTo>
                  <a:pt x="4144" y="3741"/>
                  <a:pt x="3743" y="4140"/>
                  <a:pt x="3705" y="4641"/>
                </a:cubicBezTo>
                <a:lnTo>
                  <a:pt x="3704" y="4660"/>
                </a:lnTo>
                <a:lnTo>
                  <a:pt x="0" y="4660"/>
                </a:lnTo>
                <a:lnTo>
                  <a:pt x="0" y="4659"/>
                </a:lnTo>
                <a:cubicBezTo>
                  <a:pt x="32" y="2100"/>
                  <a:pt x="2101" y="32"/>
                  <a:pt x="4659" y="0"/>
                </a:cubicBezTo>
                <a:lnTo>
                  <a:pt x="4660" y="0"/>
                </a:lnTo>
                <a:close/>
              </a:path>
            </a:pathLst>
          </a:custGeom>
          <a:ln>
            <a:noFill/>
          </a:ln>
          <a:effectLst>
            <a:outerShdw blurRad="3810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535"/>
            <a:ext cx="579755" cy="65214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25805" y="89535"/>
            <a:ext cx="5099685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>
                <a:sym typeface="+mn-ea"/>
              </a:rPr>
              <a:t>数值相关性分析</a:t>
            </a:r>
            <a:endParaRPr lang="zh-CN" alt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5" y="771445"/>
            <a:ext cx="9225006" cy="60758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26035" y="-19050"/>
            <a:ext cx="12197715" cy="687705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2760000">
            <a:off x="7734539" y="-1431053"/>
            <a:ext cx="9720000" cy="9720000"/>
          </a:xfrm>
          <a:custGeom>
            <a:avLst/>
            <a:gdLst>
              <a:gd name="adj" fmla="val 3921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39" h="9439">
                <a:moveTo>
                  <a:pt x="5736" y="4779"/>
                </a:moveTo>
                <a:lnTo>
                  <a:pt x="9439" y="4779"/>
                </a:lnTo>
                <a:lnTo>
                  <a:pt x="9439" y="4781"/>
                </a:lnTo>
                <a:cubicBezTo>
                  <a:pt x="9407" y="7339"/>
                  <a:pt x="7339" y="9407"/>
                  <a:pt x="4780" y="9439"/>
                </a:cubicBezTo>
                <a:lnTo>
                  <a:pt x="4779" y="9439"/>
                </a:lnTo>
                <a:lnTo>
                  <a:pt x="4779" y="5736"/>
                </a:lnTo>
                <a:lnTo>
                  <a:pt x="4794" y="5735"/>
                </a:lnTo>
                <a:cubicBezTo>
                  <a:pt x="5296" y="5698"/>
                  <a:pt x="5696" y="5299"/>
                  <a:pt x="5735" y="4798"/>
                </a:cubicBezTo>
                <a:lnTo>
                  <a:pt x="5736" y="4779"/>
                </a:lnTo>
                <a:close/>
                <a:moveTo>
                  <a:pt x="0" y="4779"/>
                </a:moveTo>
                <a:lnTo>
                  <a:pt x="3704" y="4779"/>
                </a:lnTo>
                <a:lnTo>
                  <a:pt x="3705" y="4798"/>
                </a:lnTo>
                <a:cubicBezTo>
                  <a:pt x="3743" y="5299"/>
                  <a:pt x="4144" y="5698"/>
                  <a:pt x="4645" y="5735"/>
                </a:cubicBezTo>
                <a:lnTo>
                  <a:pt x="4660" y="5736"/>
                </a:lnTo>
                <a:lnTo>
                  <a:pt x="4660" y="9439"/>
                </a:lnTo>
                <a:lnTo>
                  <a:pt x="4659" y="9439"/>
                </a:lnTo>
                <a:cubicBezTo>
                  <a:pt x="2101" y="9407"/>
                  <a:pt x="32" y="7339"/>
                  <a:pt x="0" y="4781"/>
                </a:cubicBezTo>
                <a:lnTo>
                  <a:pt x="0" y="4779"/>
                </a:lnTo>
                <a:close/>
                <a:moveTo>
                  <a:pt x="4779" y="0"/>
                </a:moveTo>
                <a:lnTo>
                  <a:pt x="4780" y="0"/>
                </a:lnTo>
                <a:cubicBezTo>
                  <a:pt x="7339" y="32"/>
                  <a:pt x="9407" y="2100"/>
                  <a:pt x="9439" y="4659"/>
                </a:cubicBezTo>
                <a:lnTo>
                  <a:pt x="9439" y="4660"/>
                </a:lnTo>
                <a:lnTo>
                  <a:pt x="5736" y="4660"/>
                </a:lnTo>
                <a:lnTo>
                  <a:pt x="5735" y="4641"/>
                </a:lnTo>
                <a:cubicBezTo>
                  <a:pt x="5696" y="4140"/>
                  <a:pt x="5296" y="3741"/>
                  <a:pt x="4794" y="3704"/>
                </a:cubicBezTo>
                <a:lnTo>
                  <a:pt x="4779" y="3704"/>
                </a:lnTo>
                <a:lnTo>
                  <a:pt x="4779" y="0"/>
                </a:lnTo>
                <a:close/>
                <a:moveTo>
                  <a:pt x="4660" y="0"/>
                </a:moveTo>
                <a:lnTo>
                  <a:pt x="4660" y="3704"/>
                </a:lnTo>
                <a:lnTo>
                  <a:pt x="4645" y="3704"/>
                </a:lnTo>
                <a:cubicBezTo>
                  <a:pt x="4144" y="3741"/>
                  <a:pt x="3743" y="4140"/>
                  <a:pt x="3705" y="4641"/>
                </a:cubicBezTo>
                <a:lnTo>
                  <a:pt x="3704" y="4660"/>
                </a:lnTo>
                <a:lnTo>
                  <a:pt x="0" y="4660"/>
                </a:lnTo>
                <a:lnTo>
                  <a:pt x="0" y="4659"/>
                </a:lnTo>
                <a:cubicBezTo>
                  <a:pt x="32" y="2100"/>
                  <a:pt x="2101" y="32"/>
                  <a:pt x="4659" y="0"/>
                </a:cubicBezTo>
                <a:lnTo>
                  <a:pt x="4660" y="0"/>
                </a:lnTo>
                <a:close/>
              </a:path>
            </a:pathLst>
          </a:custGeom>
          <a:ln>
            <a:noFill/>
          </a:ln>
          <a:effectLst>
            <a:outerShdw blurRad="3810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-20955" y="-9525"/>
            <a:ext cx="12192635" cy="6727825"/>
            <a:chOff x="0" y="205"/>
            <a:chExt cx="19201" cy="10595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05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5" name="矩形 4"/>
          <p:cNvSpPr/>
          <p:nvPr/>
        </p:nvSpPr>
        <p:spPr>
          <a:xfrm>
            <a:off x="558800" y="-19050"/>
            <a:ext cx="4754880" cy="13220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>
                <a:sym typeface="+mn-ea"/>
              </a:rPr>
              <a:t>各区域房源基础统计</a:t>
            </a:r>
            <a:endParaRPr lang="zh-CN" altLang="en-US" sz="4000"/>
          </a:p>
          <a:p>
            <a:pPr algn="ctr"/>
            <a:endParaRPr lang="zh-CN" alt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6035" y="597010"/>
            <a:ext cx="9609753" cy="6260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5715" y="-19050"/>
            <a:ext cx="12197715" cy="687705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8100000">
            <a:off x="7734539" y="-1431053"/>
            <a:ext cx="9720000" cy="9720000"/>
          </a:xfrm>
          <a:custGeom>
            <a:avLst/>
            <a:gdLst>
              <a:gd name="adj" fmla="val 3921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39" h="9439">
                <a:moveTo>
                  <a:pt x="5736" y="4779"/>
                </a:moveTo>
                <a:lnTo>
                  <a:pt x="9439" y="4779"/>
                </a:lnTo>
                <a:lnTo>
                  <a:pt x="9439" y="4781"/>
                </a:lnTo>
                <a:cubicBezTo>
                  <a:pt x="9407" y="7339"/>
                  <a:pt x="7339" y="9407"/>
                  <a:pt x="4780" y="9439"/>
                </a:cubicBezTo>
                <a:lnTo>
                  <a:pt x="4779" y="9439"/>
                </a:lnTo>
                <a:lnTo>
                  <a:pt x="4779" y="5736"/>
                </a:lnTo>
                <a:lnTo>
                  <a:pt x="4794" y="5735"/>
                </a:lnTo>
                <a:cubicBezTo>
                  <a:pt x="5296" y="5698"/>
                  <a:pt x="5696" y="5299"/>
                  <a:pt x="5735" y="4798"/>
                </a:cubicBezTo>
                <a:lnTo>
                  <a:pt x="5736" y="4779"/>
                </a:lnTo>
                <a:close/>
                <a:moveTo>
                  <a:pt x="0" y="4779"/>
                </a:moveTo>
                <a:lnTo>
                  <a:pt x="3704" y="4779"/>
                </a:lnTo>
                <a:lnTo>
                  <a:pt x="3705" y="4798"/>
                </a:lnTo>
                <a:cubicBezTo>
                  <a:pt x="3743" y="5299"/>
                  <a:pt x="4144" y="5698"/>
                  <a:pt x="4645" y="5735"/>
                </a:cubicBezTo>
                <a:lnTo>
                  <a:pt x="4660" y="5736"/>
                </a:lnTo>
                <a:lnTo>
                  <a:pt x="4660" y="9439"/>
                </a:lnTo>
                <a:lnTo>
                  <a:pt x="4659" y="9439"/>
                </a:lnTo>
                <a:cubicBezTo>
                  <a:pt x="2101" y="9407"/>
                  <a:pt x="32" y="7339"/>
                  <a:pt x="0" y="4781"/>
                </a:cubicBezTo>
                <a:lnTo>
                  <a:pt x="0" y="4779"/>
                </a:lnTo>
                <a:close/>
                <a:moveTo>
                  <a:pt x="4779" y="0"/>
                </a:moveTo>
                <a:lnTo>
                  <a:pt x="4780" y="0"/>
                </a:lnTo>
                <a:cubicBezTo>
                  <a:pt x="7339" y="32"/>
                  <a:pt x="9407" y="2100"/>
                  <a:pt x="9439" y="4659"/>
                </a:cubicBezTo>
                <a:lnTo>
                  <a:pt x="9439" y="4660"/>
                </a:lnTo>
                <a:lnTo>
                  <a:pt x="5736" y="4660"/>
                </a:lnTo>
                <a:lnTo>
                  <a:pt x="5735" y="4641"/>
                </a:lnTo>
                <a:cubicBezTo>
                  <a:pt x="5696" y="4140"/>
                  <a:pt x="5296" y="3741"/>
                  <a:pt x="4794" y="3704"/>
                </a:cubicBezTo>
                <a:lnTo>
                  <a:pt x="4779" y="3704"/>
                </a:lnTo>
                <a:lnTo>
                  <a:pt x="4779" y="0"/>
                </a:lnTo>
                <a:close/>
                <a:moveTo>
                  <a:pt x="4660" y="0"/>
                </a:moveTo>
                <a:lnTo>
                  <a:pt x="4660" y="3704"/>
                </a:lnTo>
                <a:lnTo>
                  <a:pt x="4645" y="3704"/>
                </a:lnTo>
                <a:cubicBezTo>
                  <a:pt x="4144" y="3741"/>
                  <a:pt x="3743" y="4140"/>
                  <a:pt x="3705" y="4641"/>
                </a:cubicBezTo>
                <a:lnTo>
                  <a:pt x="3704" y="4660"/>
                </a:lnTo>
                <a:lnTo>
                  <a:pt x="0" y="4660"/>
                </a:lnTo>
                <a:lnTo>
                  <a:pt x="0" y="4659"/>
                </a:lnTo>
                <a:cubicBezTo>
                  <a:pt x="32" y="2100"/>
                  <a:pt x="2101" y="32"/>
                  <a:pt x="4659" y="0"/>
                </a:cubicBezTo>
                <a:lnTo>
                  <a:pt x="4660" y="0"/>
                </a:lnTo>
                <a:close/>
              </a:path>
            </a:pathLst>
          </a:custGeom>
          <a:ln>
            <a:noFill/>
          </a:ln>
          <a:effectLst>
            <a:outerShdw blurRad="3810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5" y="0"/>
            <a:ext cx="579755" cy="65214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79755" y="-19050"/>
            <a:ext cx="4858385" cy="18148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>
                <a:sym typeface="+mn-ea"/>
              </a:rPr>
              <a:t>户型与价格的关系</a:t>
            </a:r>
            <a:endParaRPr lang="zh-CN" altLang="en-US" sz="7200"/>
          </a:p>
          <a:p>
            <a:pPr algn="ctr"/>
            <a:endParaRPr lang="zh-CN" altLang="en-US" sz="7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" y="609972"/>
            <a:ext cx="9752097" cy="6267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5715" y="-9525"/>
            <a:ext cx="12197715" cy="687705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3440000">
            <a:off x="7734539" y="-1431053"/>
            <a:ext cx="9720000" cy="9720000"/>
          </a:xfrm>
          <a:custGeom>
            <a:avLst/>
            <a:gdLst>
              <a:gd name="adj" fmla="val 3921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39" h="9439">
                <a:moveTo>
                  <a:pt x="5736" y="4779"/>
                </a:moveTo>
                <a:lnTo>
                  <a:pt x="9439" y="4779"/>
                </a:lnTo>
                <a:lnTo>
                  <a:pt x="9439" y="4781"/>
                </a:lnTo>
                <a:cubicBezTo>
                  <a:pt x="9407" y="7339"/>
                  <a:pt x="7339" y="9407"/>
                  <a:pt x="4780" y="9439"/>
                </a:cubicBezTo>
                <a:lnTo>
                  <a:pt x="4779" y="9439"/>
                </a:lnTo>
                <a:lnTo>
                  <a:pt x="4779" y="5736"/>
                </a:lnTo>
                <a:lnTo>
                  <a:pt x="4794" y="5735"/>
                </a:lnTo>
                <a:cubicBezTo>
                  <a:pt x="5296" y="5698"/>
                  <a:pt x="5696" y="5299"/>
                  <a:pt x="5735" y="4798"/>
                </a:cubicBezTo>
                <a:lnTo>
                  <a:pt x="5736" y="4779"/>
                </a:lnTo>
                <a:close/>
                <a:moveTo>
                  <a:pt x="0" y="4779"/>
                </a:moveTo>
                <a:lnTo>
                  <a:pt x="3704" y="4779"/>
                </a:lnTo>
                <a:lnTo>
                  <a:pt x="3705" y="4798"/>
                </a:lnTo>
                <a:cubicBezTo>
                  <a:pt x="3743" y="5299"/>
                  <a:pt x="4144" y="5698"/>
                  <a:pt x="4645" y="5735"/>
                </a:cubicBezTo>
                <a:lnTo>
                  <a:pt x="4660" y="5736"/>
                </a:lnTo>
                <a:lnTo>
                  <a:pt x="4660" y="9439"/>
                </a:lnTo>
                <a:lnTo>
                  <a:pt x="4659" y="9439"/>
                </a:lnTo>
                <a:cubicBezTo>
                  <a:pt x="2101" y="9407"/>
                  <a:pt x="32" y="7339"/>
                  <a:pt x="0" y="4781"/>
                </a:cubicBezTo>
                <a:lnTo>
                  <a:pt x="0" y="4779"/>
                </a:lnTo>
                <a:close/>
                <a:moveTo>
                  <a:pt x="4779" y="0"/>
                </a:moveTo>
                <a:lnTo>
                  <a:pt x="4780" y="0"/>
                </a:lnTo>
                <a:cubicBezTo>
                  <a:pt x="7339" y="32"/>
                  <a:pt x="9407" y="2100"/>
                  <a:pt x="9439" y="4659"/>
                </a:cubicBezTo>
                <a:lnTo>
                  <a:pt x="9439" y="4660"/>
                </a:lnTo>
                <a:lnTo>
                  <a:pt x="5736" y="4660"/>
                </a:lnTo>
                <a:lnTo>
                  <a:pt x="5735" y="4641"/>
                </a:lnTo>
                <a:cubicBezTo>
                  <a:pt x="5696" y="4140"/>
                  <a:pt x="5296" y="3741"/>
                  <a:pt x="4794" y="3704"/>
                </a:cubicBezTo>
                <a:lnTo>
                  <a:pt x="4779" y="3704"/>
                </a:lnTo>
                <a:lnTo>
                  <a:pt x="4779" y="0"/>
                </a:lnTo>
                <a:close/>
                <a:moveTo>
                  <a:pt x="4660" y="0"/>
                </a:moveTo>
                <a:lnTo>
                  <a:pt x="4660" y="3704"/>
                </a:lnTo>
                <a:lnTo>
                  <a:pt x="4645" y="3704"/>
                </a:lnTo>
                <a:cubicBezTo>
                  <a:pt x="4144" y="3741"/>
                  <a:pt x="3743" y="4140"/>
                  <a:pt x="3705" y="4641"/>
                </a:cubicBezTo>
                <a:lnTo>
                  <a:pt x="3704" y="4660"/>
                </a:lnTo>
                <a:lnTo>
                  <a:pt x="0" y="4660"/>
                </a:lnTo>
                <a:lnTo>
                  <a:pt x="0" y="4659"/>
                </a:lnTo>
                <a:cubicBezTo>
                  <a:pt x="32" y="2100"/>
                  <a:pt x="2101" y="32"/>
                  <a:pt x="4659" y="0"/>
                </a:cubicBezTo>
                <a:lnTo>
                  <a:pt x="4660" y="0"/>
                </a:lnTo>
                <a:close/>
              </a:path>
            </a:pathLst>
          </a:custGeom>
          <a:ln>
            <a:noFill/>
          </a:ln>
          <a:effectLst>
            <a:outerShdw blurRad="3810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" y="39370"/>
            <a:ext cx="579755" cy="65214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57225" y="0"/>
            <a:ext cx="5262880" cy="13220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>
                <a:sym typeface="+mn-ea"/>
              </a:rPr>
              <a:t>装修情况对价格的影响</a:t>
            </a:r>
            <a:endParaRPr lang="zh-CN" altLang="en-US" sz="4000"/>
          </a:p>
          <a:p>
            <a:pPr algn="ctr"/>
            <a:endParaRPr lang="zh-CN" alt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" y="650735"/>
            <a:ext cx="9294241" cy="6216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5715" y="37465"/>
            <a:ext cx="12197715" cy="687705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9020000">
            <a:off x="7734539" y="-1431053"/>
            <a:ext cx="9720000" cy="9720000"/>
          </a:xfrm>
          <a:custGeom>
            <a:avLst/>
            <a:gdLst>
              <a:gd name="adj" fmla="val 3921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39" h="9439">
                <a:moveTo>
                  <a:pt x="5736" y="4779"/>
                </a:moveTo>
                <a:lnTo>
                  <a:pt x="9439" y="4779"/>
                </a:lnTo>
                <a:lnTo>
                  <a:pt x="9439" y="4781"/>
                </a:lnTo>
                <a:cubicBezTo>
                  <a:pt x="9407" y="7339"/>
                  <a:pt x="7339" y="9407"/>
                  <a:pt x="4780" y="9439"/>
                </a:cubicBezTo>
                <a:lnTo>
                  <a:pt x="4779" y="9439"/>
                </a:lnTo>
                <a:lnTo>
                  <a:pt x="4779" y="5736"/>
                </a:lnTo>
                <a:lnTo>
                  <a:pt x="4794" y="5735"/>
                </a:lnTo>
                <a:cubicBezTo>
                  <a:pt x="5296" y="5698"/>
                  <a:pt x="5696" y="5299"/>
                  <a:pt x="5735" y="4798"/>
                </a:cubicBezTo>
                <a:lnTo>
                  <a:pt x="5736" y="4779"/>
                </a:lnTo>
                <a:close/>
                <a:moveTo>
                  <a:pt x="0" y="4779"/>
                </a:moveTo>
                <a:lnTo>
                  <a:pt x="3704" y="4779"/>
                </a:lnTo>
                <a:lnTo>
                  <a:pt x="3705" y="4798"/>
                </a:lnTo>
                <a:cubicBezTo>
                  <a:pt x="3743" y="5299"/>
                  <a:pt x="4144" y="5698"/>
                  <a:pt x="4645" y="5735"/>
                </a:cubicBezTo>
                <a:lnTo>
                  <a:pt x="4660" y="5736"/>
                </a:lnTo>
                <a:lnTo>
                  <a:pt x="4660" y="9439"/>
                </a:lnTo>
                <a:lnTo>
                  <a:pt x="4659" y="9439"/>
                </a:lnTo>
                <a:cubicBezTo>
                  <a:pt x="2101" y="9407"/>
                  <a:pt x="32" y="7339"/>
                  <a:pt x="0" y="4781"/>
                </a:cubicBezTo>
                <a:lnTo>
                  <a:pt x="0" y="4779"/>
                </a:lnTo>
                <a:close/>
                <a:moveTo>
                  <a:pt x="4779" y="0"/>
                </a:moveTo>
                <a:lnTo>
                  <a:pt x="4780" y="0"/>
                </a:lnTo>
                <a:cubicBezTo>
                  <a:pt x="7339" y="32"/>
                  <a:pt x="9407" y="2100"/>
                  <a:pt x="9439" y="4659"/>
                </a:cubicBezTo>
                <a:lnTo>
                  <a:pt x="9439" y="4660"/>
                </a:lnTo>
                <a:lnTo>
                  <a:pt x="5736" y="4660"/>
                </a:lnTo>
                <a:lnTo>
                  <a:pt x="5735" y="4641"/>
                </a:lnTo>
                <a:cubicBezTo>
                  <a:pt x="5696" y="4140"/>
                  <a:pt x="5296" y="3741"/>
                  <a:pt x="4794" y="3704"/>
                </a:cubicBezTo>
                <a:lnTo>
                  <a:pt x="4779" y="3704"/>
                </a:lnTo>
                <a:lnTo>
                  <a:pt x="4779" y="0"/>
                </a:lnTo>
                <a:close/>
                <a:moveTo>
                  <a:pt x="4660" y="0"/>
                </a:moveTo>
                <a:lnTo>
                  <a:pt x="4660" y="3704"/>
                </a:lnTo>
                <a:lnTo>
                  <a:pt x="4645" y="3704"/>
                </a:lnTo>
                <a:cubicBezTo>
                  <a:pt x="4144" y="3741"/>
                  <a:pt x="3743" y="4140"/>
                  <a:pt x="3705" y="4641"/>
                </a:cubicBezTo>
                <a:lnTo>
                  <a:pt x="3704" y="4660"/>
                </a:lnTo>
                <a:lnTo>
                  <a:pt x="0" y="4660"/>
                </a:lnTo>
                <a:lnTo>
                  <a:pt x="0" y="4659"/>
                </a:lnTo>
                <a:cubicBezTo>
                  <a:pt x="32" y="2100"/>
                  <a:pt x="2101" y="32"/>
                  <a:pt x="4659" y="0"/>
                </a:cubicBezTo>
                <a:lnTo>
                  <a:pt x="4660" y="0"/>
                </a:lnTo>
                <a:close/>
              </a:path>
            </a:pathLst>
          </a:custGeom>
          <a:ln>
            <a:noFill/>
          </a:ln>
          <a:effectLst>
            <a:outerShdw blurRad="3810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535"/>
            <a:ext cx="579755" cy="65214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23240" y="37465"/>
            <a:ext cx="5655945" cy="18148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>
                <a:sym typeface="+mn-ea"/>
              </a:rPr>
              <a:t>地铁覆盖对价格的影响</a:t>
            </a:r>
            <a:endParaRPr lang="zh-CN" altLang="en-US" sz="7200"/>
          </a:p>
          <a:p>
            <a:pPr algn="ctr"/>
            <a:endParaRPr lang="zh-CN" altLang="en-US" sz="7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1542"/>
            <a:ext cx="9511146" cy="62429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5715" y="-53340"/>
            <a:ext cx="12197715" cy="687705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2760000">
            <a:off x="7734539" y="-1431053"/>
            <a:ext cx="9720000" cy="9720000"/>
          </a:xfrm>
          <a:custGeom>
            <a:avLst/>
            <a:gdLst>
              <a:gd name="adj" fmla="val 3921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39" h="9439">
                <a:moveTo>
                  <a:pt x="5736" y="4779"/>
                </a:moveTo>
                <a:lnTo>
                  <a:pt x="9439" y="4779"/>
                </a:lnTo>
                <a:lnTo>
                  <a:pt x="9439" y="4781"/>
                </a:lnTo>
                <a:cubicBezTo>
                  <a:pt x="9407" y="7339"/>
                  <a:pt x="7339" y="9407"/>
                  <a:pt x="4780" y="9439"/>
                </a:cubicBezTo>
                <a:lnTo>
                  <a:pt x="4779" y="9439"/>
                </a:lnTo>
                <a:lnTo>
                  <a:pt x="4779" y="5736"/>
                </a:lnTo>
                <a:lnTo>
                  <a:pt x="4794" y="5735"/>
                </a:lnTo>
                <a:cubicBezTo>
                  <a:pt x="5296" y="5698"/>
                  <a:pt x="5696" y="5299"/>
                  <a:pt x="5735" y="4798"/>
                </a:cubicBezTo>
                <a:lnTo>
                  <a:pt x="5736" y="4779"/>
                </a:lnTo>
                <a:close/>
                <a:moveTo>
                  <a:pt x="0" y="4779"/>
                </a:moveTo>
                <a:lnTo>
                  <a:pt x="3704" y="4779"/>
                </a:lnTo>
                <a:lnTo>
                  <a:pt x="3705" y="4798"/>
                </a:lnTo>
                <a:cubicBezTo>
                  <a:pt x="3743" y="5299"/>
                  <a:pt x="4144" y="5698"/>
                  <a:pt x="4645" y="5735"/>
                </a:cubicBezTo>
                <a:lnTo>
                  <a:pt x="4660" y="5736"/>
                </a:lnTo>
                <a:lnTo>
                  <a:pt x="4660" y="9439"/>
                </a:lnTo>
                <a:lnTo>
                  <a:pt x="4659" y="9439"/>
                </a:lnTo>
                <a:cubicBezTo>
                  <a:pt x="2101" y="9407"/>
                  <a:pt x="32" y="7339"/>
                  <a:pt x="0" y="4781"/>
                </a:cubicBezTo>
                <a:lnTo>
                  <a:pt x="0" y="4779"/>
                </a:lnTo>
                <a:close/>
                <a:moveTo>
                  <a:pt x="4779" y="0"/>
                </a:moveTo>
                <a:lnTo>
                  <a:pt x="4780" y="0"/>
                </a:lnTo>
                <a:cubicBezTo>
                  <a:pt x="7339" y="32"/>
                  <a:pt x="9407" y="2100"/>
                  <a:pt x="9439" y="4659"/>
                </a:cubicBezTo>
                <a:lnTo>
                  <a:pt x="9439" y="4660"/>
                </a:lnTo>
                <a:lnTo>
                  <a:pt x="5736" y="4660"/>
                </a:lnTo>
                <a:lnTo>
                  <a:pt x="5735" y="4641"/>
                </a:lnTo>
                <a:cubicBezTo>
                  <a:pt x="5696" y="4140"/>
                  <a:pt x="5296" y="3741"/>
                  <a:pt x="4794" y="3704"/>
                </a:cubicBezTo>
                <a:lnTo>
                  <a:pt x="4779" y="3704"/>
                </a:lnTo>
                <a:lnTo>
                  <a:pt x="4779" y="0"/>
                </a:lnTo>
                <a:close/>
                <a:moveTo>
                  <a:pt x="4660" y="0"/>
                </a:moveTo>
                <a:lnTo>
                  <a:pt x="4660" y="3704"/>
                </a:lnTo>
                <a:lnTo>
                  <a:pt x="4645" y="3704"/>
                </a:lnTo>
                <a:cubicBezTo>
                  <a:pt x="4144" y="3741"/>
                  <a:pt x="3743" y="4140"/>
                  <a:pt x="3705" y="4641"/>
                </a:cubicBezTo>
                <a:lnTo>
                  <a:pt x="3704" y="4660"/>
                </a:lnTo>
                <a:lnTo>
                  <a:pt x="0" y="4660"/>
                </a:lnTo>
                <a:lnTo>
                  <a:pt x="0" y="4659"/>
                </a:lnTo>
                <a:cubicBezTo>
                  <a:pt x="32" y="2100"/>
                  <a:pt x="2101" y="32"/>
                  <a:pt x="4659" y="0"/>
                </a:cubicBezTo>
                <a:lnTo>
                  <a:pt x="4660" y="0"/>
                </a:lnTo>
                <a:close/>
              </a:path>
            </a:pathLst>
          </a:custGeom>
          <a:ln>
            <a:noFill/>
          </a:ln>
          <a:effectLst>
            <a:outerShdw blurRad="3810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-20955" y="-9525"/>
            <a:ext cx="12192635" cy="6727825"/>
            <a:chOff x="0" y="205"/>
            <a:chExt cx="19201" cy="10595"/>
          </a:xfrm>
        </p:grpSpPr>
        <p:pic>
          <p:nvPicPr>
            <p:cNvPr id="3" name="Image 0" descr="https://kimi-img.moonshot.cn/pub/slides/slides_tmpl/image/25-09-08-12:55:42-d2v63jlnfo2stf9dk4r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05"/>
              <a:ext cx="913" cy="1027"/>
            </a:xfrm>
            <a:prstGeom prst="rect">
              <a:avLst/>
            </a:prstGeom>
          </p:spPr>
        </p:pic>
        <p:pic>
          <p:nvPicPr>
            <p:cNvPr id="4" name="Image 1" descr="https://kimi-img.moonshot.cn/pub/slides/slides_tmpl/image/25-09-08-12:55:41-d2v63jdnfo2stf9dk4q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676"/>
              <a:ext cx="19201" cy="1124"/>
            </a:xfrm>
            <a:prstGeom prst="rect">
              <a:avLst/>
            </a:prstGeom>
          </p:spPr>
        </p:pic>
      </p:grpSp>
      <p:sp>
        <p:nvSpPr>
          <p:cNvPr id="5" name="矩形 4"/>
          <p:cNvSpPr/>
          <p:nvPr/>
        </p:nvSpPr>
        <p:spPr>
          <a:xfrm>
            <a:off x="666115" y="-53340"/>
            <a:ext cx="4246880" cy="13220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>
                <a:sym typeface="+mn-ea"/>
              </a:rPr>
              <a:t>朝向与价格的关系</a:t>
            </a:r>
            <a:endParaRPr lang="zh-CN" altLang="en-US" sz="7200"/>
          </a:p>
          <a:p>
            <a:pPr algn="ctr"/>
            <a:endParaRPr lang="zh-CN" alt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20" y="605854"/>
            <a:ext cx="9604233" cy="6252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5715" y="-19050"/>
            <a:ext cx="12197715" cy="687705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8100000">
            <a:off x="7734539" y="-1431053"/>
            <a:ext cx="9720000" cy="9720000"/>
          </a:xfrm>
          <a:custGeom>
            <a:avLst/>
            <a:gdLst>
              <a:gd name="adj" fmla="val 3921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39" h="9439">
                <a:moveTo>
                  <a:pt x="5736" y="4779"/>
                </a:moveTo>
                <a:lnTo>
                  <a:pt x="9439" y="4779"/>
                </a:lnTo>
                <a:lnTo>
                  <a:pt x="9439" y="4781"/>
                </a:lnTo>
                <a:cubicBezTo>
                  <a:pt x="9407" y="7339"/>
                  <a:pt x="7339" y="9407"/>
                  <a:pt x="4780" y="9439"/>
                </a:cubicBezTo>
                <a:lnTo>
                  <a:pt x="4779" y="9439"/>
                </a:lnTo>
                <a:lnTo>
                  <a:pt x="4779" y="5736"/>
                </a:lnTo>
                <a:lnTo>
                  <a:pt x="4794" y="5735"/>
                </a:lnTo>
                <a:cubicBezTo>
                  <a:pt x="5296" y="5698"/>
                  <a:pt x="5696" y="5299"/>
                  <a:pt x="5735" y="4798"/>
                </a:cubicBezTo>
                <a:lnTo>
                  <a:pt x="5736" y="4779"/>
                </a:lnTo>
                <a:close/>
                <a:moveTo>
                  <a:pt x="0" y="4779"/>
                </a:moveTo>
                <a:lnTo>
                  <a:pt x="3704" y="4779"/>
                </a:lnTo>
                <a:lnTo>
                  <a:pt x="3705" y="4798"/>
                </a:lnTo>
                <a:cubicBezTo>
                  <a:pt x="3743" y="5299"/>
                  <a:pt x="4144" y="5698"/>
                  <a:pt x="4645" y="5735"/>
                </a:cubicBezTo>
                <a:lnTo>
                  <a:pt x="4660" y="5736"/>
                </a:lnTo>
                <a:lnTo>
                  <a:pt x="4660" y="9439"/>
                </a:lnTo>
                <a:lnTo>
                  <a:pt x="4659" y="9439"/>
                </a:lnTo>
                <a:cubicBezTo>
                  <a:pt x="2101" y="9407"/>
                  <a:pt x="32" y="7339"/>
                  <a:pt x="0" y="4781"/>
                </a:cubicBezTo>
                <a:lnTo>
                  <a:pt x="0" y="4779"/>
                </a:lnTo>
                <a:close/>
                <a:moveTo>
                  <a:pt x="4779" y="0"/>
                </a:moveTo>
                <a:lnTo>
                  <a:pt x="4780" y="0"/>
                </a:lnTo>
                <a:cubicBezTo>
                  <a:pt x="7339" y="32"/>
                  <a:pt x="9407" y="2100"/>
                  <a:pt x="9439" y="4659"/>
                </a:cubicBezTo>
                <a:lnTo>
                  <a:pt x="9439" y="4660"/>
                </a:lnTo>
                <a:lnTo>
                  <a:pt x="5736" y="4660"/>
                </a:lnTo>
                <a:lnTo>
                  <a:pt x="5735" y="4641"/>
                </a:lnTo>
                <a:cubicBezTo>
                  <a:pt x="5696" y="4140"/>
                  <a:pt x="5296" y="3741"/>
                  <a:pt x="4794" y="3704"/>
                </a:cubicBezTo>
                <a:lnTo>
                  <a:pt x="4779" y="3704"/>
                </a:lnTo>
                <a:lnTo>
                  <a:pt x="4779" y="0"/>
                </a:lnTo>
                <a:close/>
                <a:moveTo>
                  <a:pt x="4660" y="0"/>
                </a:moveTo>
                <a:lnTo>
                  <a:pt x="4660" y="3704"/>
                </a:lnTo>
                <a:lnTo>
                  <a:pt x="4645" y="3704"/>
                </a:lnTo>
                <a:cubicBezTo>
                  <a:pt x="4144" y="3741"/>
                  <a:pt x="3743" y="4140"/>
                  <a:pt x="3705" y="4641"/>
                </a:cubicBezTo>
                <a:lnTo>
                  <a:pt x="3704" y="4660"/>
                </a:lnTo>
                <a:lnTo>
                  <a:pt x="0" y="4660"/>
                </a:lnTo>
                <a:lnTo>
                  <a:pt x="0" y="4659"/>
                </a:lnTo>
                <a:cubicBezTo>
                  <a:pt x="32" y="2100"/>
                  <a:pt x="2101" y="32"/>
                  <a:pt x="4659" y="0"/>
                </a:cubicBezTo>
                <a:lnTo>
                  <a:pt x="4660" y="0"/>
                </a:lnTo>
                <a:close/>
              </a:path>
            </a:pathLst>
          </a:custGeom>
          <a:ln>
            <a:noFill/>
          </a:ln>
          <a:effectLst>
            <a:outerShdw blurRad="3810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535"/>
            <a:ext cx="579755" cy="65214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40385" y="-19050"/>
            <a:ext cx="4246880" cy="13220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>
                <a:sym typeface="+mn-ea"/>
              </a:rPr>
              <a:t>楼层与价格的关系</a:t>
            </a:r>
            <a:endParaRPr lang="zh-CN" altLang="en-US" sz="4000"/>
          </a:p>
          <a:p>
            <a:pPr algn="ctr"/>
            <a:endParaRPr lang="zh-CN" altLang="en-US" sz="4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1985"/>
            <a:ext cx="9139212" cy="62167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5715" y="-19050"/>
            <a:ext cx="12197715" cy="687705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2" name="任意多边形 1"/>
          <p:cNvSpPr/>
          <p:nvPr/>
        </p:nvSpPr>
        <p:spPr>
          <a:xfrm rot="13440000">
            <a:off x="7734539" y="-1431053"/>
            <a:ext cx="9720000" cy="9720000"/>
          </a:xfrm>
          <a:custGeom>
            <a:avLst/>
            <a:gdLst>
              <a:gd name="adj" fmla="val 39217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439" h="9439">
                <a:moveTo>
                  <a:pt x="5736" y="4779"/>
                </a:moveTo>
                <a:lnTo>
                  <a:pt x="9439" y="4779"/>
                </a:lnTo>
                <a:lnTo>
                  <a:pt x="9439" y="4781"/>
                </a:lnTo>
                <a:cubicBezTo>
                  <a:pt x="9407" y="7339"/>
                  <a:pt x="7339" y="9407"/>
                  <a:pt x="4780" y="9439"/>
                </a:cubicBezTo>
                <a:lnTo>
                  <a:pt x="4779" y="9439"/>
                </a:lnTo>
                <a:lnTo>
                  <a:pt x="4779" y="5736"/>
                </a:lnTo>
                <a:lnTo>
                  <a:pt x="4794" y="5735"/>
                </a:lnTo>
                <a:cubicBezTo>
                  <a:pt x="5296" y="5698"/>
                  <a:pt x="5696" y="5299"/>
                  <a:pt x="5735" y="4798"/>
                </a:cubicBezTo>
                <a:lnTo>
                  <a:pt x="5736" y="4779"/>
                </a:lnTo>
                <a:close/>
                <a:moveTo>
                  <a:pt x="0" y="4779"/>
                </a:moveTo>
                <a:lnTo>
                  <a:pt x="3704" y="4779"/>
                </a:lnTo>
                <a:lnTo>
                  <a:pt x="3705" y="4798"/>
                </a:lnTo>
                <a:cubicBezTo>
                  <a:pt x="3743" y="5299"/>
                  <a:pt x="4144" y="5698"/>
                  <a:pt x="4645" y="5735"/>
                </a:cubicBezTo>
                <a:lnTo>
                  <a:pt x="4660" y="5736"/>
                </a:lnTo>
                <a:lnTo>
                  <a:pt x="4660" y="9439"/>
                </a:lnTo>
                <a:lnTo>
                  <a:pt x="4659" y="9439"/>
                </a:lnTo>
                <a:cubicBezTo>
                  <a:pt x="2101" y="9407"/>
                  <a:pt x="32" y="7339"/>
                  <a:pt x="0" y="4781"/>
                </a:cubicBezTo>
                <a:lnTo>
                  <a:pt x="0" y="4779"/>
                </a:lnTo>
                <a:close/>
                <a:moveTo>
                  <a:pt x="4779" y="0"/>
                </a:moveTo>
                <a:lnTo>
                  <a:pt x="4780" y="0"/>
                </a:lnTo>
                <a:cubicBezTo>
                  <a:pt x="7339" y="32"/>
                  <a:pt x="9407" y="2100"/>
                  <a:pt x="9439" y="4659"/>
                </a:cubicBezTo>
                <a:lnTo>
                  <a:pt x="9439" y="4660"/>
                </a:lnTo>
                <a:lnTo>
                  <a:pt x="5736" y="4660"/>
                </a:lnTo>
                <a:lnTo>
                  <a:pt x="5735" y="4641"/>
                </a:lnTo>
                <a:cubicBezTo>
                  <a:pt x="5696" y="4140"/>
                  <a:pt x="5296" y="3741"/>
                  <a:pt x="4794" y="3704"/>
                </a:cubicBezTo>
                <a:lnTo>
                  <a:pt x="4779" y="3704"/>
                </a:lnTo>
                <a:lnTo>
                  <a:pt x="4779" y="0"/>
                </a:lnTo>
                <a:close/>
                <a:moveTo>
                  <a:pt x="4660" y="0"/>
                </a:moveTo>
                <a:lnTo>
                  <a:pt x="4660" y="3704"/>
                </a:lnTo>
                <a:lnTo>
                  <a:pt x="4645" y="3704"/>
                </a:lnTo>
                <a:cubicBezTo>
                  <a:pt x="4144" y="3741"/>
                  <a:pt x="3743" y="4140"/>
                  <a:pt x="3705" y="4641"/>
                </a:cubicBezTo>
                <a:lnTo>
                  <a:pt x="3704" y="4660"/>
                </a:lnTo>
                <a:lnTo>
                  <a:pt x="0" y="4660"/>
                </a:lnTo>
                <a:lnTo>
                  <a:pt x="0" y="4659"/>
                </a:lnTo>
                <a:cubicBezTo>
                  <a:pt x="32" y="2100"/>
                  <a:pt x="2101" y="32"/>
                  <a:pt x="4659" y="0"/>
                </a:cubicBezTo>
                <a:lnTo>
                  <a:pt x="4660" y="0"/>
                </a:lnTo>
                <a:close/>
              </a:path>
            </a:pathLst>
          </a:custGeom>
          <a:ln>
            <a:noFill/>
          </a:ln>
          <a:effectLst>
            <a:outerShdw blurRad="381000" dist="508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535"/>
            <a:ext cx="579755" cy="65214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33475" y="89535"/>
            <a:ext cx="221488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数据概览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9271"/>
            <a:ext cx="7647344" cy="60779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90065" y="2331511"/>
            <a:ext cx="803719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本地服务器：</a:t>
            </a:r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4"/>
          <a:srcRect t="22162"/>
          <a:stretch>
            <a:fillRect/>
          </a:stretch>
        </p:blipFill>
        <p:spPr>
          <a:xfrm>
            <a:off x="-217805" y="20891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4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  <p:pic>
        <p:nvPicPr>
          <p:cNvPr id="8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5"/>
          <a:srcRect t="1192" b="1192"/>
          <a:stretch>
            <a:fillRect/>
          </a:stretch>
        </p:blipFill>
        <p:spPr>
          <a:xfrm>
            <a:off x="8249603" y="1524000"/>
            <a:ext cx="2118995" cy="11322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80870" y="3274060"/>
            <a:ext cx="815721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http://localhost:8000/index.html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6625" t="8858" r="11055" b="15857"/>
          <a:stretch>
            <a:fillRect/>
          </a:stretch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410" y="2195830"/>
            <a:ext cx="7026275" cy="13589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88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0890" y="3501390"/>
            <a:ext cx="471678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 FOR WATCHING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90" y="1730375"/>
            <a:ext cx="6468110" cy="2984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99160" y="4532630"/>
            <a:ext cx="2179320" cy="76581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7" name="Text 3"/>
          <p:cNvSpPr/>
          <p:nvPr/>
        </p:nvSpPr>
        <p:spPr>
          <a:xfrm>
            <a:off x="863600" y="4795520"/>
            <a:ext cx="217932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99160" y="4590571"/>
            <a:ext cx="22498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王瑞祥，刘研，柴梁琪</a:t>
            </a:r>
          </a:p>
        </p:txBody>
      </p:sp>
      <p:sp>
        <p:nvSpPr>
          <p:cNvPr id="9" name="Shape 5"/>
          <p:cNvSpPr/>
          <p:nvPr/>
        </p:nvSpPr>
        <p:spPr>
          <a:xfrm>
            <a:off x="3519170" y="4532630"/>
            <a:ext cx="2179320" cy="76581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10" name="Text 6"/>
          <p:cNvSpPr/>
          <p:nvPr/>
        </p:nvSpPr>
        <p:spPr>
          <a:xfrm>
            <a:off x="3519170" y="4795520"/>
            <a:ext cx="217932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84245" y="4745124"/>
            <a:ext cx="224980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时间:2025.9.19</a:t>
            </a:r>
            <a:endParaRPr lang="zh-CN" altLang="en-US" sz="20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2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6"/>
          <a:srcRect t="22162"/>
          <a:stretch>
            <a:fillRect/>
          </a:stretch>
        </p:blipFill>
        <p:spPr>
          <a:xfrm>
            <a:off x="7364095" y="1974850"/>
            <a:ext cx="4268470" cy="33235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2&quot;:[19983201,25001792]}"/>
  <p:tag name="COMMONDATA" val="eyJoZGlkIjoiOGVmYTE0OTM5MTFhOGQyMmZmNjMyNmE1NDA0NDM3Zj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.6,&quot;left&quot;:272.1,&quot;top&quot;:348.35,&quot;width&quot;:396.9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.6,&quot;left&quot;:272.1,&quot;top&quot;:348.35,&quot;width&quot;:396.9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.6,&quot;left&quot;:272.1,&quot;top&quot;:348.35,&quot;width&quot;:396.9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.6,&quot;left&quot;:272.1,&quot;top&quot;:348.35,&quot;width&quot;:396.9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6,&quot;left&quot;:66.1,&quot;top&quot;:131.9,&quot;width&quot;:504.3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6,&quot;left&quot;:66.1,&quot;top&quot;:131.9,&quot;width&quot;:504.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6,&quot;left&quot;:66.1,&quot;top&quot;:131.9,&quot;width&quot;:504.3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6,&quot;left&quot;:66.1,&quot;top&quot;:131.9,&quot;width&quot;:504.3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6,&quot;left&quot;:66.1,&quot;top&quot;:131.9,&quot;width&quot;:504.3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6,&quot;left&quot;:66.1,&quot;top&quot;:131.9,&quot;width&quot;:504.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0.45,&quot;left&quot;:66.1,&quot;top&quot;:-179.95,&quot;width&quot;:536.1975590551181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305,&quot;width&quot;:1138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20,&quot;width&quot;:19234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586</Words>
  <Application>Microsoft Office PowerPoint</Application>
  <PresentationFormat>宽屏</PresentationFormat>
  <Paragraphs>93</Paragraphs>
  <Slides>45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0" baseType="lpstr">
      <vt:lpstr>汉仪雅酷黑简</vt:lpstr>
      <vt:lpstr>MiSans</vt:lpstr>
      <vt:lpstr>Calibri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深圳二手房数据洞察全景</dc:title>
  <dc:subject>深圳二手房数据洞察全景</dc:subject>
  <dc:creator>Kimi</dc:creator>
  <cp:lastModifiedBy>3835475634@qq.com</cp:lastModifiedBy>
  <cp:revision>55</cp:revision>
  <dcterms:created xsi:type="dcterms:W3CDTF">2025-09-11T00:47:00Z</dcterms:created>
  <dcterms:modified xsi:type="dcterms:W3CDTF">2026-09-19T13:05:09Z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{"Label":"深圳二手房数据洞察全景","ContentProducer":"001191110108MACG2KBH8F10000","ProduceID":"d311jc5eik6g7u3a93c0","ReservedCode1":"","ContentPropagator":"001191110108MACG2KBH8F20000","PropagateID":"d311jc5eik6g7u3a93c0","ReservedCode2":""}</vt:lpwstr>
  </property>
  <property fmtid="{D5CDD505-2E9C-101B-9397-08002B2CF9AE}" pid="3" name="ICV">
    <vt:lpwstr>8102B5FC937645609F87BAEB0124F381</vt:lpwstr>
  </property>
  <property fmtid="{D5CDD505-2E9C-101B-9397-08002B2CF9AE}" pid="4" name="KSOProductBuildVer">
    <vt:lpwstr>2052-11.1.0.12165</vt:lpwstr>
  </property>
</Properties>
</file>